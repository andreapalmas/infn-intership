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7"/>
  </p:notesMasterIdLst>
  <p:sldIdLst>
    <p:sldId id="257" r:id="rId2"/>
    <p:sldId id="258" r:id="rId3"/>
    <p:sldId id="263" r:id="rId4"/>
    <p:sldId id="264" r:id="rId5"/>
    <p:sldId id="265"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27"/>
    <p:restoredTop sz="94675"/>
  </p:normalViewPr>
  <p:slideViewPr>
    <p:cSldViewPr snapToGrid="0">
      <p:cViewPr>
        <p:scale>
          <a:sx n="110" d="100"/>
          <a:sy n="110" d="100"/>
        </p:scale>
        <p:origin x="136"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22C26-E222-C84D-BAD5-28C05110B46F}" type="datetimeFigureOut">
              <a:rPr lang="en-IT" smtClean="0"/>
              <a:t>15/10/2026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4D24F-8281-5548-9FF7-066FCBC7EBE5}" type="slidenum">
              <a:rPr lang="en-IT" smtClean="0"/>
              <a:t>‹#›</a:t>
            </a:fld>
            <a:endParaRPr lang="en-IT"/>
          </a:p>
        </p:txBody>
      </p:sp>
    </p:spTree>
    <p:extLst>
      <p:ext uri="{BB962C8B-B14F-4D97-AF65-F5344CB8AC3E}">
        <p14:creationId xmlns:p14="http://schemas.microsoft.com/office/powerpoint/2010/main" val="2843571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97C4D24F-8281-5548-9FF7-066FCBC7EBE5}" type="slidenum">
              <a:rPr lang="en-IT" smtClean="0"/>
              <a:t>2</a:t>
            </a:fld>
            <a:endParaRPr lang="en-IT"/>
          </a:p>
        </p:txBody>
      </p:sp>
    </p:spTree>
    <p:extLst>
      <p:ext uri="{BB962C8B-B14F-4D97-AF65-F5344CB8AC3E}">
        <p14:creationId xmlns:p14="http://schemas.microsoft.com/office/powerpoint/2010/main" val="1116421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99FB-DDEB-793B-0249-FA9945D70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920A7-B663-5F47-D10F-F539BF47D3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EC3569-3288-C390-A982-8F9B3132E731}"/>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969C3B8D-3D70-E123-17BA-985E8F062F6A}"/>
              </a:ext>
            </a:extLst>
          </p:cNvPr>
          <p:cNvSpPr>
            <a:spLocks noGrp="1"/>
          </p:cNvSpPr>
          <p:nvPr>
            <p:ph type="sldNum" sz="quarter" idx="5"/>
          </p:nvPr>
        </p:nvSpPr>
        <p:spPr/>
        <p:txBody>
          <a:bodyPr/>
          <a:lstStyle/>
          <a:p>
            <a:fld id="{97C4D24F-8281-5548-9FF7-066FCBC7EBE5}" type="slidenum">
              <a:rPr lang="en-IT" smtClean="0"/>
              <a:t>4</a:t>
            </a:fld>
            <a:endParaRPr lang="en-IT"/>
          </a:p>
        </p:txBody>
      </p:sp>
    </p:spTree>
    <p:extLst>
      <p:ext uri="{BB962C8B-B14F-4D97-AF65-F5344CB8AC3E}">
        <p14:creationId xmlns:p14="http://schemas.microsoft.com/office/powerpoint/2010/main" val="2358084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8E442-8F90-DCDB-6A47-4D757DBD1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F2E9AD-FA81-369D-343D-82E1D7A38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53C74-2F63-B5DA-CD11-6812E7199CB0}"/>
              </a:ext>
            </a:extLst>
          </p:cNvPr>
          <p:cNvSpPr>
            <a:spLocks noGrp="1"/>
          </p:cNvSpPr>
          <p:nvPr>
            <p:ph type="body" idx="1"/>
          </p:nvPr>
        </p:nvSpPr>
        <p:spPr/>
        <p:txBody>
          <a:bodyPr/>
          <a:lstStyle/>
          <a:p>
            <a:endParaRPr lang="en-IT" dirty="0"/>
          </a:p>
        </p:txBody>
      </p:sp>
      <p:sp>
        <p:nvSpPr>
          <p:cNvPr id="4" name="Slide Number Placeholder 3">
            <a:extLst>
              <a:ext uri="{FF2B5EF4-FFF2-40B4-BE49-F238E27FC236}">
                <a16:creationId xmlns:a16="http://schemas.microsoft.com/office/drawing/2014/main" id="{82F3024A-41BF-FAB7-E355-E70852477460}"/>
              </a:ext>
            </a:extLst>
          </p:cNvPr>
          <p:cNvSpPr>
            <a:spLocks noGrp="1"/>
          </p:cNvSpPr>
          <p:nvPr>
            <p:ph type="sldNum" sz="quarter" idx="5"/>
          </p:nvPr>
        </p:nvSpPr>
        <p:spPr/>
        <p:txBody>
          <a:bodyPr/>
          <a:lstStyle/>
          <a:p>
            <a:fld id="{97C4D24F-8281-5548-9FF7-066FCBC7EBE5}" type="slidenum">
              <a:rPr lang="en-IT" smtClean="0"/>
              <a:t>5</a:t>
            </a:fld>
            <a:endParaRPr lang="en-IT"/>
          </a:p>
        </p:txBody>
      </p:sp>
    </p:spTree>
    <p:extLst>
      <p:ext uri="{BB962C8B-B14F-4D97-AF65-F5344CB8AC3E}">
        <p14:creationId xmlns:p14="http://schemas.microsoft.com/office/powerpoint/2010/main" val="3738654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10/15/26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10/15/26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10/15/26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10/15/26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18F6-79B9-D8A9-60AF-8111E46072DC}"/>
              </a:ext>
            </a:extLst>
          </p:cNvPr>
          <p:cNvSpPr>
            <a:spLocks noGrp="1"/>
          </p:cNvSpPr>
          <p:nvPr>
            <p:ph type="title"/>
          </p:nvPr>
        </p:nvSpPr>
        <p:spPr>
          <a:xfrm>
            <a:off x="2231135" y="355032"/>
            <a:ext cx="7729728" cy="1188720"/>
          </a:xfrm>
        </p:spPr>
        <p:txBody>
          <a:bodyPr/>
          <a:lstStyle/>
          <a:p>
            <a:r>
              <a:rPr lang="en-IT" dirty="0"/>
              <a:t>Risultati analisi QC-TS LS-FBK</a:t>
            </a:r>
            <a:endParaRPr lang="en-IT" baseline="-25000" dirty="0"/>
          </a:p>
        </p:txBody>
      </p:sp>
      <p:sp>
        <p:nvSpPr>
          <p:cNvPr id="3" name="Content Placeholder 2">
            <a:extLst>
              <a:ext uri="{FF2B5EF4-FFF2-40B4-BE49-F238E27FC236}">
                <a16:creationId xmlns:a16="http://schemas.microsoft.com/office/drawing/2014/main" id="{85579E26-86DC-BAF1-9D09-E3F07E105435}"/>
              </a:ext>
            </a:extLst>
          </p:cNvPr>
          <p:cNvSpPr>
            <a:spLocks noGrp="1"/>
          </p:cNvSpPr>
          <p:nvPr>
            <p:ph idx="1"/>
          </p:nvPr>
        </p:nvSpPr>
        <p:spPr>
          <a:xfrm>
            <a:off x="760021" y="1412451"/>
            <a:ext cx="10431678" cy="5320857"/>
          </a:xfrm>
        </p:spPr>
        <p:txBody>
          <a:bodyPr>
            <a:noAutofit/>
          </a:bodyPr>
          <a:lstStyle/>
          <a:p>
            <a:pPr marL="0" indent="0" algn="ctr">
              <a:buNone/>
            </a:pPr>
            <a:endParaRPr lang="en-IT" sz="2400" dirty="0"/>
          </a:p>
          <a:p>
            <a:pPr algn="ctr"/>
            <a:r>
              <a:rPr lang="en-IT" sz="2400" dirty="0"/>
              <a:t>Ho analizzato gli LGAD B corrispondenti alla serie:</a:t>
            </a:r>
            <a:br>
              <a:rPr lang="en-IT" sz="2400" dirty="0"/>
            </a:br>
            <a:r>
              <a:rPr lang="en-IT" sz="2400" u="sng" dirty="0"/>
              <a:t> S2 - S14 - S19 - S21 - S24 - S26 - S30 - S45</a:t>
            </a:r>
            <a:br>
              <a:rPr lang="en-IT" sz="2400" dirty="0"/>
            </a:br>
            <a:r>
              <a:rPr lang="en-GB" sz="2400" dirty="0"/>
              <a:t>R</a:t>
            </a:r>
            <a:r>
              <a:rPr lang="en-IT" sz="2400" dirty="0"/>
              <a:t>ispettivi ai wafer:</a:t>
            </a:r>
            <a:br>
              <a:rPr lang="en-IT" sz="2400" dirty="0"/>
            </a:br>
            <a:r>
              <a:rPr lang="en-IT" sz="2400" u="sng" dirty="0"/>
              <a:t>W14 - W15 -W18 - W19 - W20 - W22 - W23 - W24 - W26 </a:t>
            </a:r>
          </a:p>
          <a:p>
            <a:pPr algn="ctr"/>
            <a:endParaRPr lang="en-IT" sz="2400" baseline="-25000" dirty="0"/>
          </a:p>
          <a:p>
            <a:pPr algn="ctr"/>
            <a:r>
              <a:rPr lang="en-IT" sz="2400" dirty="0"/>
              <a:t>Per l’ LGAD B  W15 è stato considerato il file con suffisso “prova”, poichè è quello con il range corretto di Vbias</a:t>
            </a:r>
          </a:p>
          <a:p>
            <a:pPr marL="0" indent="0" algn="ctr">
              <a:buNone/>
            </a:pPr>
            <a:endParaRPr lang="en-IT" sz="2400" dirty="0"/>
          </a:p>
          <a:p>
            <a:pPr algn="ctr"/>
            <a:r>
              <a:rPr lang="en-IT" sz="2400" dirty="0"/>
              <a:t>L’ LGAD W24 - S24 non è stato considerato poichè contenente un numero di dati decisamente inferiore a quanto aspettato (265 su 300) </a:t>
            </a:r>
          </a:p>
          <a:p>
            <a:pPr marL="0" indent="0" algn="ctr">
              <a:buNone/>
            </a:pPr>
            <a:endParaRPr lang="en-IT" sz="2400" dirty="0"/>
          </a:p>
          <a:p>
            <a:pPr marL="0" indent="0" algn="ctr">
              <a:buNone/>
            </a:pPr>
            <a:endParaRPr lang="en-IT" sz="2400" dirty="0"/>
          </a:p>
        </p:txBody>
      </p:sp>
    </p:spTree>
    <p:extLst>
      <p:ext uri="{BB962C8B-B14F-4D97-AF65-F5344CB8AC3E}">
        <p14:creationId xmlns:p14="http://schemas.microsoft.com/office/powerpoint/2010/main" val="1052050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F1CB-2D57-6BD6-7943-E9F0589B0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F1A08-89DB-BAAF-6B54-687C85E86734}"/>
              </a:ext>
            </a:extLst>
          </p:cNvPr>
          <p:cNvSpPr>
            <a:spLocks noGrp="1"/>
          </p:cNvSpPr>
          <p:nvPr>
            <p:ph type="title"/>
          </p:nvPr>
        </p:nvSpPr>
        <p:spPr>
          <a:xfrm>
            <a:off x="2977024" y="155654"/>
            <a:ext cx="6237951" cy="668226"/>
          </a:xfrm>
        </p:spPr>
        <p:txBody>
          <a:bodyPr>
            <a:normAutofit fontScale="90000"/>
          </a:bodyPr>
          <a:lstStyle/>
          <a:p>
            <a:r>
              <a:rPr lang="en-IT" dirty="0"/>
              <a:t>Selezione del range di fitting</a:t>
            </a:r>
            <a:endParaRPr lang="en-IT" baseline="-25000" dirty="0"/>
          </a:p>
        </p:txBody>
      </p:sp>
      <p:sp>
        <p:nvSpPr>
          <p:cNvPr id="3" name="TextBox 2">
            <a:extLst>
              <a:ext uri="{FF2B5EF4-FFF2-40B4-BE49-F238E27FC236}">
                <a16:creationId xmlns:a16="http://schemas.microsoft.com/office/drawing/2014/main" id="{4E90B077-9681-8076-EF9E-9C89658D1153}"/>
              </a:ext>
            </a:extLst>
          </p:cNvPr>
          <p:cNvSpPr txBox="1"/>
          <p:nvPr/>
        </p:nvSpPr>
        <p:spPr>
          <a:xfrm>
            <a:off x="467896" y="1038598"/>
            <a:ext cx="11412187" cy="923330"/>
          </a:xfrm>
          <a:prstGeom prst="rect">
            <a:avLst/>
          </a:prstGeom>
          <a:noFill/>
        </p:spPr>
        <p:txBody>
          <a:bodyPr wrap="square" rtlCol="0">
            <a:spAutoFit/>
          </a:bodyPr>
          <a:lstStyle/>
          <a:p>
            <a:r>
              <a:rPr lang="en-IT" dirty="0"/>
              <a:t>Poichè la salita nella regione di bulk è molto ripida,  si è scelto un range di fitting dinamico adattato al singolo sensore, al fine di selezionare per la maggior parte di loro i tre punti centrali alla salita che sono meno vicini possibile ai cambiamenti di linearità:</a:t>
            </a:r>
          </a:p>
        </p:txBody>
      </p:sp>
      <p:sp>
        <p:nvSpPr>
          <p:cNvPr id="7" name="TextBox 6">
            <a:extLst>
              <a:ext uri="{FF2B5EF4-FFF2-40B4-BE49-F238E27FC236}">
                <a16:creationId xmlns:a16="http://schemas.microsoft.com/office/drawing/2014/main" id="{2A24DA0A-AA4F-2C19-F8AB-0A9F15F77F6B}"/>
              </a:ext>
            </a:extLst>
          </p:cNvPr>
          <p:cNvSpPr txBox="1"/>
          <p:nvPr/>
        </p:nvSpPr>
        <p:spPr>
          <a:xfrm>
            <a:off x="721084" y="6117571"/>
            <a:ext cx="10109365" cy="584775"/>
          </a:xfrm>
          <a:prstGeom prst="rect">
            <a:avLst/>
          </a:prstGeom>
          <a:noFill/>
        </p:spPr>
        <p:txBody>
          <a:bodyPr wrap="square" rtlCol="0">
            <a:spAutoFit/>
          </a:bodyPr>
          <a:lstStyle/>
          <a:p>
            <a:pPr algn="ctr"/>
            <a:r>
              <a:rPr lang="en-IT" sz="1600" dirty="0"/>
              <a:t>Esempi di LGAD su cui viene effettuato il fit su tre punti centrati sulla salita (i punti che intercettano le linee rosse tratteggiate sono inclusi nel fit).  La maggior parte dei sensori rientra in questo caso</a:t>
            </a:r>
          </a:p>
        </p:txBody>
      </p:sp>
      <p:pic>
        <p:nvPicPr>
          <p:cNvPr id="14" name="Picture 13">
            <a:extLst>
              <a:ext uri="{FF2B5EF4-FFF2-40B4-BE49-F238E27FC236}">
                <a16:creationId xmlns:a16="http://schemas.microsoft.com/office/drawing/2014/main" id="{2755ADEF-7147-7F2D-DC46-D13D4D347D4D}"/>
              </a:ext>
            </a:extLst>
          </p:cNvPr>
          <p:cNvPicPr>
            <a:picLocks noChangeAspect="1"/>
          </p:cNvPicPr>
          <p:nvPr/>
        </p:nvPicPr>
        <p:blipFill>
          <a:blip r:embed="rId3"/>
          <a:stretch>
            <a:fillRect/>
          </a:stretch>
        </p:blipFill>
        <p:spPr>
          <a:xfrm>
            <a:off x="467895" y="2074013"/>
            <a:ext cx="5627049" cy="4043558"/>
          </a:xfrm>
          <a:prstGeom prst="rect">
            <a:avLst/>
          </a:prstGeom>
        </p:spPr>
      </p:pic>
      <p:pic>
        <p:nvPicPr>
          <p:cNvPr id="16" name="Picture 15">
            <a:extLst>
              <a:ext uri="{FF2B5EF4-FFF2-40B4-BE49-F238E27FC236}">
                <a16:creationId xmlns:a16="http://schemas.microsoft.com/office/drawing/2014/main" id="{E13C3164-7558-7851-A0A8-B16CED0B59AD}"/>
              </a:ext>
            </a:extLst>
          </p:cNvPr>
          <p:cNvPicPr>
            <a:picLocks noChangeAspect="1"/>
          </p:cNvPicPr>
          <p:nvPr/>
        </p:nvPicPr>
        <p:blipFill>
          <a:blip r:embed="rId4"/>
          <a:stretch>
            <a:fillRect/>
          </a:stretch>
        </p:blipFill>
        <p:spPr>
          <a:xfrm>
            <a:off x="6253035" y="2074014"/>
            <a:ext cx="5627048" cy="4043557"/>
          </a:xfrm>
          <a:prstGeom prst="rect">
            <a:avLst/>
          </a:prstGeom>
        </p:spPr>
      </p:pic>
    </p:spTree>
    <p:extLst>
      <p:ext uri="{BB962C8B-B14F-4D97-AF65-F5344CB8AC3E}">
        <p14:creationId xmlns:p14="http://schemas.microsoft.com/office/powerpoint/2010/main" val="348939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D6BF5-4624-9EB4-75B6-A1DE7CD9E5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C1AE62-5B8B-97F8-C710-53E0B6B7CA4F}"/>
              </a:ext>
            </a:extLst>
          </p:cNvPr>
          <p:cNvSpPr txBox="1"/>
          <p:nvPr/>
        </p:nvSpPr>
        <p:spPr>
          <a:xfrm>
            <a:off x="890650" y="257062"/>
            <a:ext cx="11412187" cy="646331"/>
          </a:xfrm>
          <a:prstGeom prst="rect">
            <a:avLst/>
          </a:prstGeom>
          <a:noFill/>
        </p:spPr>
        <p:txBody>
          <a:bodyPr wrap="square" rtlCol="0">
            <a:spAutoFit/>
          </a:bodyPr>
          <a:lstStyle/>
          <a:p>
            <a:r>
              <a:rPr lang="en-IT" dirty="0"/>
              <a:t>In alcuni casi “fortunati” un numero maggiore di punti capita nella regione del fit, per cui il numero di punti aumenta arrivando a 4 o 5:</a:t>
            </a:r>
          </a:p>
        </p:txBody>
      </p:sp>
      <p:sp>
        <p:nvSpPr>
          <p:cNvPr id="7" name="TextBox 6">
            <a:extLst>
              <a:ext uri="{FF2B5EF4-FFF2-40B4-BE49-F238E27FC236}">
                <a16:creationId xmlns:a16="http://schemas.microsoft.com/office/drawing/2014/main" id="{6CF651E1-6A06-44C0-4337-05354510E3F6}"/>
              </a:ext>
            </a:extLst>
          </p:cNvPr>
          <p:cNvSpPr txBox="1"/>
          <p:nvPr/>
        </p:nvSpPr>
        <p:spPr>
          <a:xfrm>
            <a:off x="371518" y="5384842"/>
            <a:ext cx="5553365" cy="830997"/>
          </a:xfrm>
          <a:prstGeom prst="rect">
            <a:avLst/>
          </a:prstGeom>
          <a:noFill/>
        </p:spPr>
        <p:txBody>
          <a:bodyPr wrap="square" rtlCol="0">
            <a:spAutoFit/>
          </a:bodyPr>
          <a:lstStyle/>
          <a:p>
            <a:pPr algn="ctr"/>
            <a:r>
              <a:rPr lang="en-IT" sz="1600" dirty="0"/>
              <a:t>Esempio di LGAD su cui viene effettuato il fit su 4 punti centrati sulla salita (i punti che intercettano le linee rosse tratteggiate sono inclusi nel fit).</a:t>
            </a:r>
          </a:p>
        </p:txBody>
      </p:sp>
      <p:sp>
        <p:nvSpPr>
          <p:cNvPr id="13" name="TextBox 12">
            <a:extLst>
              <a:ext uri="{FF2B5EF4-FFF2-40B4-BE49-F238E27FC236}">
                <a16:creationId xmlns:a16="http://schemas.microsoft.com/office/drawing/2014/main" id="{D6612D5B-6951-325F-31FF-0C11A2AD952B}"/>
              </a:ext>
            </a:extLst>
          </p:cNvPr>
          <p:cNvSpPr txBox="1"/>
          <p:nvPr/>
        </p:nvSpPr>
        <p:spPr>
          <a:xfrm>
            <a:off x="6267117" y="5384842"/>
            <a:ext cx="5553365" cy="830997"/>
          </a:xfrm>
          <a:prstGeom prst="rect">
            <a:avLst/>
          </a:prstGeom>
          <a:noFill/>
        </p:spPr>
        <p:txBody>
          <a:bodyPr wrap="square" rtlCol="0">
            <a:spAutoFit/>
          </a:bodyPr>
          <a:lstStyle/>
          <a:p>
            <a:pPr algn="ctr"/>
            <a:r>
              <a:rPr lang="en-IT" sz="1600" dirty="0"/>
              <a:t>Esempio di LGAD su cui viene effettuato il fit su 5 punti centrati sulla salita (i punti che intercettano le linee rosse tratteggiate sono inclusi nel fit). </a:t>
            </a:r>
          </a:p>
        </p:txBody>
      </p:sp>
      <p:pic>
        <p:nvPicPr>
          <p:cNvPr id="15" name="Picture 14">
            <a:extLst>
              <a:ext uri="{FF2B5EF4-FFF2-40B4-BE49-F238E27FC236}">
                <a16:creationId xmlns:a16="http://schemas.microsoft.com/office/drawing/2014/main" id="{70FC3C04-43FF-8AFB-9F25-D1F71ED4FD3E}"/>
              </a:ext>
            </a:extLst>
          </p:cNvPr>
          <p:cNvPicPr>
            <a:picLocks noChangeAspect="1"/>
          </p:cNvPicPr>
          <p:nvPr/>
        </p:nvPicPr>
        <p:blipFill>
          <a:blip r:embed="rId2"/>
          <a:stretch>
            <a:fillRect/>
          </a:stretch>
        </p:blipFill>
        <p:spPr>
          <a:xfrm>
            <a:off x="6205463" y="1067592"/>
            <a:ext cx="5941671" cy="4269643"/>
          </a:xfrm>
          <a:prstGeom prst="rect">
            <a:avLst/>
          </a:prstGeom>
        </p:spPr>
      </p:pic>
      <p:pic>
        <p:nvPicPr>
          <p:cNvPr id="16" name="Picture 15">
            <a:extLst>
              <a:ext uri="{FF2B5EF4-FFF2-40B4-BE49-F238E27FC236}">
                <a16:creationId xmlns:a16="http://schemas.microsoft.com/office/drawing/2014/main" id="{61E12389-A90A-B658-FA3C-5B65123B3595}"/>
              </a:ext>
            </a:extLst>
          </p:cNvPr>
          <p:cNvPicPr>
            <a:picLocks noChangeAspect="1"/>
          </p:cNvPicPr>
          <p:nvPr/>
        </p:nvPicPr>
        <p:blipFill>
          <a:blip r:embed="rId3"/>
          <a:stretch>
            <a:fillRect/>
          </a:stretch>
        </p:blipFill>
        <p:spPr>
          <a:xfrm>
            <a:off x="115710" y="1056902"/>
            <a:ext cx="5941671" cy="4269643"/>
          </a:xfrm>
          <a:prstGeom prst="rect">
            <a:avLst/>
          </a:prstGeom>
        </p:spPr>
      </p:pic>
    </p:spTree>
    <p:extLst>
      <p:ext uri="{BB962C8B-B14F-4D97-AF65-F5344CB8AC3E}">
        <p14:creationId xmlns:p14="http://schemas.microsoft.com/office/powerpoint/2010/main" val="1819063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2DB5-C1E3-CE9D-A13F-054165967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6609D-D82C-2A79-447C-B48B77EAA0E5}"/>
              </a:ext>
            </a:extLst>
          </p:cNvPr>
          <p:cNvSpPr>
            <a:spLocks noGrp="1"/>
          </p:cNvSpPr>
          <p:nvPr>
            <p:ph type="title"/>
          </p:nvPr>
        </p:nvSpPr>
        <p:spPr>
          <a:xfrm>
            <a:off x="2636536" y="27987"/>
            <a:ext cx="6237951" cy="668226"/>
          </a:xfrm>
        </p:spPr>
        <p:txBody>
          <a:bodyPr>
            <a:normAutofit fontScale="90000"/>
          </a:bodyPr>
          <a:lstStyle/>
          <a:p>
            <a:r>
              <a:rPr lang="en-IT" dirty="0"/>
              <a:t>Distribuzione di V_gl</a:t>
            </a:r>
            <a:endParaRPr lang="en-IT" baseline="-25000" dirty="0"/>
          </a:p>
        </p:txBody>
      </p:sp>
      <p:pic>
        <p:nvPicPr>
          <p:cNvPr id="9" name="Picture 8">
            <a:extLst>
              <a:ext uri="{FF2B5EF4-FFF2-40B4-BE49-F238E27FC236}">
                <a16:creationId xmlns:a16="http://schemas.microsoft.com/office/drawing/2014/main" id="{04284B47-0E16-C274-5B23-3D82BB7DDAB8}"/>
              </a:ext>
            </a:extLst>
          </p:cNvPr>
          <p:cNvPicPr>
            <a:picLocks noChangeAspect="1"/>
          </p:cNvPicPr>
          <p:nvPr/>
        </p:nvPicPr>
        <p:blipFill>
          <a:blip r:embed="rId3"/>
          <a:stretch>
            <a:fillRect/>
          </a:stretch>
        </p:blipFill>
        <p:spPr>
          <a:xfrm>
            <a:off x="6096000" y="1895567"/>
            <a:ext cx="5829740" cy="4726120"/>
          </a:xfrm>
          <a:prstGeom prst="rect">
            <a:avLst/>
          </a:prstGeom>
        </p:spPr>
      </p:pic>
      <p:sp>
        <p:nvSpPr>
          <p:cNvPr id="11" name="Content Placeholder 2">
            <a:extLst>
              <a:ext uri="{FF2B5EF4-FFF2-40B4-BE49-F238E27FC236}">
                <a16:creationId xmlns:a16="http://schemas.microsoft.com/office/drawing/2014/main" id="{8ACF2EF8-5704-B988-6BD1-A9F786F47DB8}"/>
              </a:ext>
            </a:extLst>
          </p:cNvPr>
          <p:cNvSpPr>
            <a:spLocks noGrp="1"/>
          </p:cNvSpPr>
          <p:nvPr>
            <p:ph idx="1"/>
          </p:nvPr>
        </p:nvSpPr>
        <p:spPr>
          <a:xfrm>
            <a:off x="603150" y="757455"/>
            <a:ext cx="11203027" cy="856279"/>
          </a:xfrm>
        </p:spPr>
        <p:txBody>
          <a:bodyPr>
            <a:noAutofit/>
          </a:bodyPr>
          <a:lstStyle/>
          <a:p>
            <a:pPr marL="0" indent="0">
              <a:buNone/>
            </a:pPr>
            <a:r>
              <a:rPr lang="en-IT" sz="2400" dirty="0"/>
              <a:t>La distribuzione risulta centrata sul valore di </a:t>
            </a:r>
            <a:r>
              <a:rPr lang="en-IT" sz="2400" b="1" dirty="0"/>
              <a:t>V</a:t>
            </a:r>
            <a:r>
              <a:rPr lang="en-IT" sz="2400" b="1" baseline="-25000" dirty="0"/>
              <a:t>gl</a:t>
            </a:r>
            <a:r>
              <a:rPr lang="en-IT" sz="2400" b="1" dirty="0"/>
              <a:t>=48.78</a:t>
            </a:r>
            <a:r>
              <a:rPr lang="en-IT" sz="2400" dirty="0"/>
              <a:t>, simile a quanto dichiarato dal produttore. La sigma, invece, risulta leggermente minore.</a:t>
            </a:r>
          </a:p>
        </p:txBody>
      </p:sp>
      <p:pic>
        <p:nvPicPr>
          <p:cNvPr id="15" name="Picture 14">
            <a:extLst>
              <a:ext uri="{FF2B5EF4-FFF2-40B4-BE49-F238E27FC236}">
                <a16:creationId xmlns:a16="http://schemas.microsoft.com/office/drawing/2014/main" id="{4C669F2A-0C66-A21D-3A1A-8CD81C52A95A}"/>
              </a:ext>
            </a:extLst>
          </p:cNvPr>
          <p:cNvPicPr>
            <a:picLocks noChangeAspect="1"/>
          </p:cNvPicPr>
          <p:nvPr/>
        </p:nvPicPr>
        <p:blipFill>
          <a:blip r:embed="rId4"/>
          <a:stretch>
            <a:fillRect/>
          </a:stretch>
        </p:blipFill>
        <p:spPr>
          <a:xfrm>
            <a:off x="370390" y="1895567"/>
            <a:ext cx="5385122" cy="4734995"/>
          </a:xfrm>
          <a:prstGeom prst="rect">
            <a:avLst/>
          </a:prstGeom>
        </p:spPr>
      </p:pic>
    </p:spTree>
    <p:extLst>
      <p:ext uri="{BB962C8B-B14F-4D97-AF65-F5344CB8AC3E}">
        <p14:creationId xmlns:p14="http://schemas.microsoft.com/office/powerpoint/2010/main" val="194783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A7D86-0FE9-AE75-2A01-F12310B42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9CF34-9BCB-D936-FB17-C8CF9D49CB97}"/>
              </a:ext>
            </a:extLst>
          </p:cNvPr>
          <p:cNvSpPr>
            <a:spLocks noGrp="1"/>
          </p:cNvSpPr>
          <p:nvPr>
            <p:ph type="title"/>
          </p:nvPr>
        </p:nvSpPr>
        <p:spPr>
          <a:xfrm>
            <a:off x="2648110" y="166883"/>
            <a:ext cx="6237951" cy="668226"/>
          </a:xfrm>
        </p:spPr>
        <p:txBody>
          <a:bodyPr>
            <a:normAutofit fontScale="90000"/>
          </a:bodyPr>
          <a:lstStyle/>
          <a:p>
            <a:r>
              <a:rPr lang="en-IT" dirty="0"/>
              <a:t>Differenza sensore-sensore</a:t>
            </a:r>
            <a:endParaRPr lang="en-IT" baseline="-25000" dirty="0"/>
          </a:p>
        </p:txBody>
      </p:sp>
      <p:sp>
        <p:nvSpPr>
          <p:cNvPr id="11" name="Content Placeholder 2">
            <a:extLst>
              <a:ext uri="{FF2B5EF4-FFF2-40B4-BE49-F238E27FC236}">
                <a16:creationId xmlns:a16="http://schemas.microsoft.com/office/drawing/2014/main" id="{DC9C9F48-A16F-18D6-1A22-241CA6D356D1}"/>
              </a:ext>
            </a:extLst>
          </p:cNvPr>
          <p:cNvSpPr>
            <a:spLocks noGrp="1"/>
          </p:cNvSpPr>
          <p:nvPr>
            <p:ph idx="1"/>
          </p:nvPr>
        </p:nvSpPr>
        <p:spPr>
          <a:xfrm>
            <a:off x="6805793" y="1370943"/>
            <a:ext cx="4160535" cy="5320174"/>
          </a:xfrm>
        </p:spPr>
        <p:txBody>
          <a:bodyPr>
            <a:noAutofit/>
          </a:bodyPr>
          <a:lstStyle/>
          <a:p>
            <a:pPr marL="0" indent="0">
              <a:buNone/>
            </a:pPr>
            <a:r>
              <a:rPr lang="en-IT" sz="2400" dirty="0"/>
              <a:t>La distribuzione delle differenze delle stime su singoli sensori risulta vicina a zero e con un valore di sigma contenuto. In generale si osserva una leggera sovrastima rispetto al valore dichiarato dal produttore. Potrebbe essere dovuto al fatto che per avere almeno 3 punti associati al fit lineare nella regione di bulk spesso si sono considerati punti più vicini al primo cambio di pendenza. </a:t>
            </a:r>
          </a:p>
        </p:txBody>
      </p:sp>
      <p:pic>
        <p:nvPicPr>
          <p:cNvPr id="3" name="Picture 2">
            <a:extLst>
              <a:ext uri="{FF2B5EF4-FFF2-40B4-BE49-F238E27FC236}">
                <a16:creationId xmlns:a16="http://schemas.microsoft.com/office/drawing/2014/main" id="{62A04AA9-1383-13A3-1386-48F389E23197}"/>
              </a:ext>
            </a:extLst>
          </p:cNvPr>
          <p:cNvPicPr>
            <a:picLocks noChangeAspect="1"/>
          </p:cNvPicPr>
          <p:nvPr/>
        </p:nvPicPr>
        <p:blipFill>
          <a:blip r:embed="rId3"/>
          <a:stretch>
            <a:fillRect/>
          </a:stretch>
        </p:blipFill>
        <p:spPr>
          <a:xfrm>
            <a:off x="122097" y="1121136"/>
            <a:ext cx="6416233" cy="5320174"/>
          </a:xfrm>
          <a:prstGeom prst="rect">
            <a:avLst/>
          </a:prstGeom>
        </p:spPr>
      </p:pic>
    </p:spTree>
    <p:extLst>
      <p:ext uri="{BB962C8B-B14F-4D97-AF65-F5344CB8AC3E}">
        <p14:creationId xmlns:p14="http://schemas.microsoft.com/office/powerpoint/2010/main" val="235071919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2032</TotalTime>
  <Words>390</Words>
  <Application>Microsoft Macintosh PowerPoint</Application>
  <PresentationFormat>Widescreen</PresentationFormat>
  <Paragraphs>20</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Gill Sans MT</vt:lpstr>
      <vt:lpstr>Parcel</vt:lpstr>
      <vt:lpstr>Risultati analisi QC-TS LS-FBK</vt:lpstr>
      <vt:lpstr>Selezione del range di fitting</vt:lpstr>
      <vt:lpstr>PowerPoint Presentation</vt:lpstr>
      <vt:lpstr>Distribuzione di V_gl</vt:lpstr>
      <vt:lpstr>Differenza sensore-sensore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Palmas</dc:creator>
  <cp:lastModifiedBy>Andrea Palmas</cp:lastModifiedBy>
  <cp:revision>12</cp:revision>
  <dcterms:created xsi:type="dcterms:W3CDTF">2026-10-07T14:28:05Z</dcterms:created>
  <dcterms:modified xsi:type="dcterms:W3CDTF">2026-10-15T14:57:15Z</dcterms:modified>
</cp:coreProperties>
</file>