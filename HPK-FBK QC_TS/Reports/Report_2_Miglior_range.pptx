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11"/>
  </p:notesMasterIdLst>
  <p:sldIdLst>
    <p:sldId id="257" r:id="rId2"/>
    <p:sldId id="270" r:id="rId3"/>
    <p:sldId id="258" r:id="rId4"/>
    <p:sldId id="264" r:id="rId5"/>
    <p:sldId id="265" r:id="rId6"/>
    <p:sldId id="266" r:id="rId7"/>
    <p:sldId id="262" r:id="rId8"/>
    <p:sldId id="267" r:id="rId9"/>
    <p:sldId id="269"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58"/>
    <p:restoredTop sz="94694"/>
  </p:normalViewPr>
  <p:slideViewPr>
    <p:cSldViewPr snapToGrid="0">
      <p:cViewPr varScale="1">
        <p:scale>
          <a:sx n="117" d="100"/>
          <a:sy n="117" d="100"/>
        </p:scale>
        <p:origin x="192"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822C26-E222-C84D-BAD5-28C05110B46F}" type="datetimeFigureOut">
              <a:rPr lang="en-IT" smtClean="0"/>
              <a:t>09/10/2026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C4D24F-8281-5548-9FF7-066FCBC7EBE5}" type="slidenum">
              <a:rPr lang="en-IT" smtClean="0"/>
              <a:t>‹#›</a:t>
            </a:fld>
            <a:endParaRPr lang="en-IT"/>
          </a:p>
        </p:txBody>
      </p:sp>
    </p:spTree>
    <p:extLst>
      <p:ext uri="{BB962C8B-B14F-4D97-AF65-F5344CB8AC3E}">
        <p14:creationId xmlns:p14="http://schemas.microsoft.com/office/powerpoint/2010/main" val="2843571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  </a:t>
            </a:r>
          </a:p>
        </p:txBody>
      </p:sp>
      <p:sp>
        <p:nvSpPr>
          <p:cNvPr id="4" name="Slide Number Placeholder 3"/>
          <p:cNvSpPr>
            <a:spLocks noGrp="1"/>
          </p:cNvSpPr>
          <p:nvPr>
            <p:ph type="sldNum" sz="quarter" idx="5"/>
          </p:nvPr>
        </p:nvSpPr>
        <p:spPr/>
        <p:txBody>
          <a:bodyPr/>
          <a:lstStyle/>
          <a:p>
            <a:fld id="{97C4D24F-8281-5548-9FF7-066FCBC7EBE5}" type="slidenum">
              <a:rPr lang="en-IT" smtClean="0"/>
              <a:t>6</a:t>
            </a:fld>
            <a:endParaRPr lang="en-IT"/>
          </a:p>
        </p:txBody>
      </p:sp>
    </p:spTree>
    <p:extLst>
      <p:ext uri="{BB962C8B-B14F-4D97-AF65-F5344CB8AC3E}">
        <p14:creationId xmlns:p14="http://schemas.microsoft.com/office/powerpoint/2010/main" val="2064495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97C4D24F-8281-5548-9FF7-066FCBC7EBE5}" type="slidenum">
              <a:rPr lang="en-IT" smtClean="0"/>
              <a:t>8</a:t>
            </a:fld>
            <a:endParaRPr lang="en-IT"/>
          </a:p>
        </p:txBody>
      </p:sp>
    </p:spTree>
    <p:extLst>
      <p:ext uri="{BB962C8B-B14F-4D97-AF65-F5344CB8AC3E}">
        <p14:creationId xmlns:p14="http://schemas.microsoft.com/office/powerpoint/2010/main" val="1810573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DF7F8-DE06-97FD-7937-48B5C49636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0EB0B7-353E-0182-BCB3-A21B0A09A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14C5F4-51E5-3233-EC78-9151C84B333C}"/>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F6624388-691D-6509-566C-5932EE5C1A79}"/>
              </a:ext>
            </a:extLst>
          </p:cNvPr>
          <p:cNvSpPr>
            <a:spLocks noGrp="1"/>
          </p:cNvSpPr>
          <p:nvPr>
            <p:ph type="sldNum" sz="quarter" idx="5"/>
          </p:nvPr>
        </p:nvSpPr>
        <p:spPr/>
        <p:txBody>
          <a:bodyPr/>
          <a:lstStyle/>
          <a:p>
            <a:fld id="{97C4D24F-8281-5548-9FF7-066FCBC7EBE5}" type="slidenum">
              <a:rPr lang="en-IT" smtClean="0"/>
              <a:t>9</a:t>
            </a:fld>
            <a:endParaRPr lang="en-IT"/>
          </a:p>
        </p:txBody>
      </p:sp>
    </p:spTree>
    <p:extLst>
      <p:ext uri="{BB962C8B-B14F-4D97-AF65-F5344CB8AC3E}">
        <p14:creationId xmlns:p14="http://schemas.microsoft.com/office/powerpoint/2010/main" val="2058899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10/9/26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10/9/26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10/9/26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10/9/26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10/9/26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GB"/>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10/9/26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10/9/26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10/9/26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10/9/26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10/9/26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10/9/26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10/9/26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A18F6-79B9-D8A9-60AF-8111E46072DC}"/>
              </a:ext>
            </a:extLst>
          </p:cNvPr>
          <p:cNvSpPr>
            <a:spLocks noGrp="1"/>
          </p:cNvSpPr>
          <p:nvPr>
            <p:ph type="title"/>
          </p:nvPr>
        </p:nvSpPr>
        <p:spPr>
          <a:xfrm>
            <a:off x="2231135" y="355032"/>
            <a:ext cx="7729728" cy="1188720"/>
          </a:xfrm>
        </p:spPr>
        <p:txBody>
          <a:bodyPr/>
          <a:lstStyle/>
          <a:p>
            <a:r>
              <a:rPr lang="en-IT" dirty="0"/>
              <a:t>Ricerca del miglior range di fitting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5579E26-86DC-BAF1-9D09-E3F07E105435}"/>
                  </a:ext>
                </a:extLst>
              </p:cNvPr>
              <p:cNvSpPr>
                <a:spLocks noGrp="1"/>
              </p:cNvSpPr>
              <p:nvPr>
                <p:ph idx="1"/>
              </p:nvPr>
            </p:nvSpPr>
            <p:spPr>
              <a:xfrm>
                <a:off x="1942213" y="1843922"/>
                <a:ext cx="8386341" cy="3573030"/>
              </a:xfrm>
            </p:spPr>
            <p:txBody>
              <a:bodyPr>
                <a:noAutofit/>
              </a:bodyPr>
              <a:lstStyle/>
              <a:p>
                <a:pPr algn="ctr"/>
                <a:r>
                  <a:rPr lang="en-IT" sz="2000" dirty="0"/>
                  <a:t>Come consigliato, cerco di capire in quale range ottengo la migliore linearità considerando il valore del </a:t>
                </a:r>
                <a14:m>
                  <m:oMath xmlns:m="http://schemas.openxmlformats.org/officeDocument/2006/math">
                    <m:r>
                      <a:rPr lang="en-IT" sz="2000" i="1">
                        <a:latin typeface="Cambria Math" panose="02040503050406030204" pitchFamily="18" charset="0"/>
                        <a:ea typeface="Cambria Math" panose="02040503050406030204" pitchFamily="18" charset="0"/>
                      </a:rPr>
                      <m:t>𝜒</m:t>
                    </m:r>
                    <m:r>
                      <a:rPr lang="it-IT" sz="2000" i="1" baseline="30000">
                        <a:latin typeface="Cambria Math" panose="02040503050406030204" pitchFamily="18" charset="0"/>
                        <a:ea typeface="Cambria Math" panose="02040503050406030204" pitchFamily="18" charset="0"/>
                      </a:rPr>
                      <m:t>2</m:t>
                    </m:r>
                  </m:oMath>
                </a14:m>
                <a:r>
                  <a:rPr lang="en-IT" sz="2000" dirty="0"/>
                  <a:t> ridotto del fit lineare nella regione di bulk.  </a:t>
                </a:r>
              </a:p>
              <a:p>
                <a:pPr marL="0" indent="0" algn="ctr">
                  <a:buNone/>
                </a:pPr>
                <a:endParaRPr lang="en-IT" sz="2000" dirty="0"/>
              </a:p>
              <a:p>
                <a:pPr algn="ctr"/>
                <a:r>
                  <a:rPr lang="en-IT" sz="2000" u="sng" dirty="0"/>
                  <a:t>Nota: </a:t>
                </a:r>
                <a:br>
                  <a:rPr lang="en-IT" sz="2000" u="sng" dirty="0"/>
                </a:br>
                <a:r>
                  <a:rPr lang="en-IT" sz="2000" dirty="0"/>
                  <a:t>Siccome non ho errori sui dati il </a:t>
                </a:r>
                <a14:m>
                  <m:oMath xmlns:m="http://schemas.openxmlformats.org/officeDocument/2006/math">
                    <m:r>
                      <a:rPr lang="en-IT" sz="2000" i="1">
                        <a:latin typeface="Cambria Math" panose="02040503050406030204" pitchFamily="18" charset="0"/>
                        <a:ea typeface="Cambria Math" panose="02040503050406030204" pitchFamily="18" charset="0"/>
                      </a:rPr>
                      <m:t>𝜒</m:t>
                    </m:r>
                    <m:r>
                      <a:rPr lang="it-IT" sz="2000" i="1" baseline="30000">
                        <a:latin typeface="Cambria Math" panose="02040503050406030204" pitchFamily="18" charset="0"/>
                        <a:ea typeface="Cambria Math" panose="02040503050406030204" pitchFamily="18" charset="0"/>
                      </a:rPr>
                      <m:t>2 </m:t>
                    </m:r>
                  </m:oMath>
                </a14:m>
                <a:r>
                  <a:rPr lang="en-IT" sz="2000" dirty="0"/>
                  <a:t>perde il suo significato statistico,  ma può comunque essere utilizzato come metrica per valutare quanto in un determinato range l’andamento si lineare. Ho riportato anche il valore della radice dell’errore quadratico medio, che, seppur rappresenti la stessa informazione, è di più facile interpretazione in questo caso.</a:t>
                </a:r>
              </a:p>
            </p:txBody>
          </p:sp>
        </mc:Choice>
        <mc:Fallback>
          <p:sp>
            <p:nvSpPr>
              <p:cNvPr id="3" name="Content Placeholder 2">
                <a:extLst>
                  <a:ext uri="{FF2B5EF4-FFF2-40B4-BE49-F238E27FC236}">
                    <a16:creationId xmlns:a16="http://schemas.microsoft.com/office/drawing/2014/main" id="{85579E26-86DC-BAF1-9D09-E3F07E105435}"/>
                  </a:ext>
                </a:extLst>
              </p:cNvPr>
              <p:cNvSpPr>
                <a:spLocks noGrp="1" noRot="1" noChangeAspect="1" noMove="1" noResize="1" noEditPoints="1" noAdjustHandles="1" noChangeArrowheads="1" noChangeShapeType="1" noTextEdit="1"/>
              </p:cNvSpPr>
              <p:nvPr>
                <p:ph idx="1"/>
              </p:nvPr>
            </p:nvSpPr>
            <p:spPr>
              <a:xfrm>
                <a:off x="1942213" y="1843922"/>
                <a:ext cx="8386341" cy="3573030"/>
              </a:xfrm>
              <a:blipFill>
                <a:blip r:embed="rId2"/>
                <a:stretch>
                  <a:fillRect t="-707" r="-908"/>
                </a:stretch>
              </a:blipFill>
            </p:spPr>
            <p:txBody>
              <a:bodyPr/>
              <a:lstStyle/>
              <a:p>
                <a:r>
                  <a:rPr lang="en-IT">
                    <a:noFill/>
                  </a:rPr>
                  <a:t> </a:t>
                </a:r>
              </a:p>
            </p:txBody>
          </p:sp>
        </mc:Fallback>
      </mc:AlternateContent>
      <p:sp>
        <p:nvSpPr>
          <p:cNvPr id="5" name="TextBox 4">
            <a:extLst>
              <a:ext uri="{FF2B5EF4-FFF2-40B4-BE49-F238E27FC236}">
                <a16:creationId xmlns:a16="http://schemas.microsoft.com/office/drawing/2014/main" id="{9AF3F498-F274-59E1-7C59-3559A21FF28C}"/>
              </a:ext>
            </a:extLst>
          </p:cNvPr>
          <p:cNvSpPr txBox="1"/>
          <p:nvPr/>
        </p:nvSpPr>
        <p:spPr>
          <a:xfrm>
            <a:off x="2126058" y="5063009"/>
            <a:ext cx="8018650" cy="707886"/>
          </a:xfrm>
          <a:prstGeom prst="rect">
            <a:avLst/>
          </a:prstGeom>
          <a:noFill/>
        </p:spPr>
        <p:txBody>
          <a:bodyPr wrap="square" rtlCol="0">
            <a:spAutoFit/>
          </a:bodyPr>
          <a:lstStyle/>
          <a:p>
            <a:pPr algn="ctr"/>
            <a:r>
              <a:rPr lang="en-IT" sz="2000" dirty="0">
                <a:solidFill>
                  <a:schemeClr val="tx1">
                    <a:lumMod val="85000"/>
                    <a:lumOff val="15000"/>
                  </a:schemeClr>
                </a:solidFill>
              </a:rPr>
              <a:t>I valori sono forniti come media dei valori calcolati su tutti i sensori, in modo da non dipendere dal comportamento di uno specifico sensore.</a:t>
            </a:r>
          </a:p>
        </p:txBody>
      </p:sp>
    </p:spTree>
    <p:extLst>
      <p:ext uri="{BB962C8B-B14F-4D97-AF65-F5344CB8AC3E}">
        <p14:creationId xmlns:p14="http://schemas.microsoft.com/office/powerpoint/2010/main" val="1052050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5A9F6-E781-BFB3-32F2-1C69E022CEB7}"/>
              </a:ext>
            </a:extLst>
          </p:cNvPr>
          <p:cNvSpPr>
            <a:spLocks noGrp="1"/>
          </p:cNvSpPr>
          <p:nvPr>
            <p:ph type="title"/>
          </p:nvPr>
        </p:nvSpPr>
        <p:spPr>
          <a:xfrm>
            <a:off x="2231136" y="194332"/>
            <a:ext cx="7729728" cy="1188720"/>
          </a:xfrm>
        </p:spPr>
        <p:txBody>
          <a:bodyPr/>
          <a:lstStyle/>
          <a:p>
            <a:r>
              <a:rPr lang="en-IT" dirty="0"/>
              <a:t>In merito ai casi studio del report precedente</a:t>
            </a:r>
          </a:p>
        </p:txBody>
      </p:sp>
      <p:sp>
        <p:nvSpPr>
          <p:cNvPr id="3" name="Content Placeholder 2">
            <a:extLst>
              <a:ext uri="{FF2B5EF4-FFF2-40B4-BE49-F238E27FC236}">
                <a16:creationId xmlns:a16="http://schemas.microsoft.com/office/drawing/2014/main" id="{2BDD78D0-F5D9-72FC-5D86-3D4F058BC2EB}"/>
              </a:ext>
            </a:extLst>
          </p:cNvPr>
          <p:cNvSpPr>
            <a:spLocks noGrp="1"/>
          </p:cNvSpPr>
          <p:nvPr>
            <p:ph idx="1"/>
          </p:nvPr>
        </p:nvSpPr>
        <p:spPr>
          <a:xfrm>
            <a:off x="1213116" y="2094547"/>
            <a:ext cx="2263429" cy="618090"/>
          </a:xfrm>
        </p:spPr>
        <p:txBody>
          <a:bodyPr/>
          <a:lstStyle/>
          <a:p>
            <a:pPr marL="0" indent="0">
              <a:buNone/>
            </a:pPr>
            <a:r>
              <a:rPr lang="en-IT" dirty="0"/>
              <a:t>Intervallo 20% - 50%:</a:t>
            </a:r>
          </a:p>
          <a:p>
            <a:pPr marL="0" indent="0">
              <a:buNone/>
            </a:pPr>
            <a:endParaRPr lang="en-IT" dirty="0"/>
          </a:p>
        </p:txBody>
      </p:sp>
      <p:sp>
        <p:nvSpPr>
          <p:cNvPr id="4" name="Content Placeholder 2">
            <a:extLst>
              <a:ext uri="{FF2B5EF4-FFF2-40B4-BE49-F238E27FC236}">
                <a16:creationId xmlns:a16="http://schemas.microsoft.com/office/drawing/2014/main" id="{20767991-A9D7-78B8-D13C-DC1D3143CC50}"/>
              </a:ext>
            </a:extLst>
          </p:cNvPr>
          <p:cNvSpPr txBox="1">
            <a:spLocks/>
          </p:cNvSpPr>
          <p:nvPr/>
        </p:nvSpPr>
        <p:spPr>
          <a:xfrm>
            <a:off x="1148269" y="2554955"/>
            <a:ext cx="3771829" cy="706289"/>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IT" dirty="0"/>
              <a:t>Il </a:t>
            </a:r>
            <a:r>
              <a:rPr lang="en-IT" u="sng" dirty="0"/>
              <a:t>numero medio di punti</a:t>
            </a:r>
            <a:r>
              <a:rPr lang="en-IT" dirty="0"/>
              <a:t> utilizzati per il fit  nella regione di bulk è: </a:t>
            </a:r>
          </a:p>
        </p:txBody>
      </p:sp>
      <p:sp>
        <p:nvSpPr>
          <p:cNvPr id="5" name="TextBox 4">
            <a:extLst>
              <a:ext uri="{FF2B5EF4-FFF2-40B4-BE49-F238E27FC236}">
                <a16:creationId xmlns:a16="http://schemas.microsoft.com/office/drawing/2014/main" id="{78B9E992-8068-6B09-332B-E0C8831EA136}"/>
              </a:ext>
            </a:extLst>
          </p:cNvPr>
          <p:cNvSpPr txBox="1"/>
          <p:nvPr/>
        </p:nvSpPr>
        <p:spPr>
          <a:xfrm>
            <a:off x="1213116" y="3404295"/>
            <a:ext cx="1148071" cy="369332"/>
          </a:xfrm>
          <a:prstGeom prst="rect">
            <a:avLst/>
          </a:prstGeom>
          <a:noFill/>
        </p:spPr>
        <p:txBody>
          <a:bodyPr wrap="none" rtlCol="0">
            <a:spAutoFit/>
          </a:bodyPr>
          <a:lstStyle/>
          <a:p>
            <a:r>
              <a:rPr lang="en-IT" b="1" dirty="0"/>
              <a:t>N= 10.85</a:t>
            </a:r>
          </a:p>
        </p:txBody>
      </p:sp>
      <p:sp>
        <p:nvSpPr>
          <p:cNvPr id="6" name="TextBox 5">
            <a:extLst>
              <a:ext uri="{FF2B5EF4-FFF2-40B4-BE49-F238E27FC236}">
                <a16:creationId xmlns:a16="http://schemas.microsoft.com/office/drawing/2014/main" id="{347F8116-6C29-CF0F-9827-B21C91348B36}"/>
              </a:ext>
            </a:extLst>
          </p:cNvPr>
          <p:cNvSpPr txBox="1"/>
          <p:nvPr/>
        </p:nvSpPr>
        <p:spPr>
          <a:xfrm>
            <a:off x="1213116" y="3871697"/>
            <a:ext cx="3130985" cy="338554"/>
          </a:xfrm>
          <a:prstGeom prst="rect">
            <a:avLst/>
          </a:prstGeom>
          <a:noFill/>
        </p:spPr>
        <p:txBody>
          <a:bodyPr wrap="none" rtlCol="0">
            <a:spAutoFit/>
          </a:bodyPr>
          <a:lstStyle/>
          <a:p>
            <a:r>
              <a:rPr lang="en-IT" sz="1400" dirty="0"/>
              <a:t>con un </a:t>
            </a:r>
            <a:r>
              <a:rPr lang="en-IT" sz="1600" dirty="0"/>
              <a:t>minimo</a:t>
            </a:r>
            <a:r>
              <a:rPr lang="en-IT" sz="1400" dirty="0"/>
              <a:t> di 9 e un massimo di 13</a:t>
            </a:r>
          </a:p>
        </p:txBody>
      </p:sp>
      <p:sp>
        <p:nvSpPr>
          <p:cNvPr id="7" name="Content Placeholder 2">
            <a:extLst>
              <a:ext uri="{FF2B5EF4-FFF2-40B4-BE49-F238E27FC236}">
                <a16:creationId xmlns:a16="http://schemas.microsoft.com/office/drawing/2014/main" id="{183C8F4F-C7D5-77D2-2F03-D8B6F78664FF}"/>
              </a:ext>
            </a:extLst>
          </p:cNvPr>
          <p:cNvSpPr txBox="1">
            <a:spLocks/>
          </p:cNvSpPr>
          <p:nvPr/>
        </p:nvSpPr>
        <p:spPr>
          <a:xfrm>
            <a:off x="6096000" y="1970468"/>
            <a:ext cx="4697748" cy="51214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T" u="sng" dirty="0"/>
              <a:t>Chi^2 ridotto medio:</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DB02706-597F-D7EC-C9DF-AF8CD2793FFB}"/>
                  </a:ext>
                </a:extLst>
              </p:cNvPr>
              <p:cNvSpPr txBox="1"/>
              <p:nvPr/>
            </p:nvSpPr>
            <p:spPr>
              <a:xfrm>
                <a:off x="6360914" y="2360884"/>
                <a:ext cx="1853392" cy="369332"/>
              </a:xfrm>
              <a:prstGeom prst="rect">
                <a:avLst/>
              </a:prstGeom>
              <a:noFill/>
            </p:spPr>
            <p:txBody>
              <a:bodyPr wrap="none" rtlCol="0">
                <a:spAutoFit/>
              </a:bodyPr>
              <a:lstStyle/>
              <a:p>
                <a14:m>
                  <m:oMath xmlns:m="http://schemas.openxmlformats.org/officeDocument/2006/math">
                    <m:r>
                      <a:rPr lang="en-IT" b="1" i="1" smtClean="0">
                        <a:latin typeface="Cambria Math" panose="02040503050406030204" pitchFamily="18" charset="0"/>
                        <a:ea typeface="Cambria Math" panose="02040503050406030204" pitchFamily="18" charset="0"/>
                      </a:rPr>
                      <m:t>𝝌</m:t>
                    </m:r>
                    <m:r>
                      <a:rPr lang="it-IT" b="1" i="1" baseline="30000" smtClean="0">
                        <a:latin typeface="Cambria Math" panose="02040503050406030204" pitchFamily="18" charset="0"/>
                        <a:ea typeface="Cambria Math" panose="02040503050406030204" pitchFamily="18" charset="0"/>
                      </a:rPr>
                      <m:t>𝟐</m:t>
                    </m:r>
                  </m:oMath>
                </a14:m>
                <a:r>
                  <a:rPr lang="en-IT" b="1" dirty="0"/>
                  <a:t>_mean = 9.60</a:t>
                </a:r>
              </a:p>
            </p:txBody>
          </p:sp>
        </mc:Choice>
        <mc:Fallback xmlns="">
          <p:sp>
            <p:nvSpPr>
              <p:cNvPr id="8" name="TextBox 7">
                <a:extLst>
                  <a:ext uri="{FF2B5EF4-FFF2-40B4-BE49-F238E27FC236}">
                    <a16:creationId xmlns:a16="http://schemas.microsoft.com/office/drawing/2014/main" id="{1DB02706-597F-D7EC-C9DF-AF8CD2793FFB}"/>
                  </a:ext>
                </a:extLst>
              </p:cNvPr>
              <p:cNvSpPr txBox="1">
                <a:spLocks noRot="1" noChangeAspect="1" noMove="1" noResize="1" noEditPoints="1" noAdjustHandles="1" noChangeArrowheads="1" noChangeShapeType="1" noTextEdit="1"/>
              </p:cNvSpPr>
              <p:nvPr/>
            </p:nvSpPr>
            <p:spPr>
              <a:xfrm>
                <a:off x="6360914" y="2360884"/>
                <a:ext cx="1853392" cy="369332"/>
              </a:xfrm>
              <a:prstGeom prst="rect">
                <a:avLst/>
              </a:prstGeom>
              <a:blipFill>
                <a:blip r:embed="rId2"/>
                <a:stretch>
                  <a:fillRect t="-6452" r="-2041" b="-19355"/>
                </a:stretch>
              </a:blipFill>
            </p:spPr>
            <p:txBody>
              <a:bodyPr/>
              <a:lstStyle/>
              <a:p>
                <a:r>
                  <a:rPr lang="en-IT">
                    <a:noFill/>
                  </a:rPr>
                  <a:t> </a:t>
                </a:r>
              </a:p>
            </p:txBody>
          </p:sp>
        </mc:Fallback>
      </mc:AlternateContent>
      <p:sp>
        <p:nvSpPr>
          <p:cNvPr id="9" name="TextBox 8">
            <a:extLst>
              <a:ext uri="{FF2B5EF4-FFF2-40B4-BE49-F238E27FC236}">
                <a16:creationId xmlns:a16="http://schemas.microsoft.com/office/drawing/2014/main" id="{DB0F96D4-B052-A5AB-CF42-7B67AFA83693}"/>
              </a:ext>
            </a:extLst>
          </p:cNvPr>
          <p:cNvSpPr txBox="1"/>
          <p:nvPr/>
        </p:nvSpPr>
        <p:spPr>
          <a:xfrm>
            <a:off x="8491484" y="2036417"/>
            <a:ext cx="1564580" cy="830997"/>
          </a:xfrm>
          <a:prstGeom prst="rect">
            <a:avLst/>
          </a:prstGeom>
          <a:noFill/>
        </p:spPr>
        <p:txBody>
          <a:bodyPr wrap="square" rtlCol="0">
            <a:spAutoFit/>
          </a:bodyPr>
          <a:lstStyle/>
          <a:p>
            <a:r>
              <a:rPr lang="en-IT" sz="1600" dirty="0"/>
              <a:t> </a:t>
            </a:r>
          </a:p>
          <a:p>
            <a:r>
              <a:rPr lang="en-IT" sz="1600" dirty="0"/>
              <a:t> - min = 1.58  </a:t>
            </a:r>
          </a:p>
          <a:p>
            <a:r>
              <a:rPr lang="en-IT" sz="1600" dirty="0"/>
              <a:t> - max = 26.43</a:t>
            </a:r>
          </a:p>
        </p:txBody>
      </p:sp>
      <p:sp>
        <p:nvSpPr>
          <p:cNvPr id="11" name="Content Placeholder 2">
            <a:extLst>
              <a:ext uri="{FF2B5EF4-FFF2-40B4-BE49-F238E27FC236}">
                <a16:creationId xmlns:a16="http://schemas.microsoft.com/office/drawing/2014/main" id="{335BD297-4065-0CDC-B487-BA9B0DED75AE}"/>
              </a:ext>
            </a:extLst>
          </p:cNvPr>
          <p:cNvSpPr txBox="1">
            <a:spLocks/>
          </p:cNvSpPr>
          <p:nvPr/>
        </p:nvSpPr>
        <p:spPr>
          <a:xfrm>
            <a:off x="6130167" y="2585707"/>
            <a:ext cx="4697748" cy="97451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latinLnBrk="1">
              <a:buNone/>
            </a:pPr>
            <a:endParaRPr lang="en-IT" dirty="0"/>
          </a:p>
          <a:p>
            <a:pPr latinLnBrk="1"/>
            <a:r>
              <a:rPr lang="en-IT" u="sng" dirty="0"/>
              <a:t>Radice errore quadratico medio:</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C24C89E-7ECC-C68E-7641-900505AFD97B}"/>
                  </a:ext>
                </a:extLst>
              </p:cNvPr>
              <p:cNvSpPr txBox="1"/>
              <p:nvPr/>
            </p:nvSpPr>
            <p:spPr>
              <a:xfrm>
                <a:off x="6248107" y="3467285"/>
                <a:ext cx="3728906" cy="646331"/>
              </a:xfrm>
              <a:prstGeom prst="rect">
                <a:avLst/>
              </a:prstGeom>
              <a:noFill/>
            </p:spPr>
            <p:txBody>
              <a:bodyPr wrap="none" rtlCol="0">
                <a:spAutoFit/>
              </a:bodyPr>
              <a:lstStyle/>
              <a:p>
                <a:pPr latinLnBrk="1"/>
                <a:r>
                  <a:rPr lang="en-IT" b="1" dirty="0"/>
                  <a:t>RMSE medio = 0.269 </a:t>
                </a:r>
                <a14:m>
                  <m:oMath xmlns:m="http://schemas.openxmlformats.org/officeDocument/2006/math">
                    <m:r>
                      <a:rPr lang="en-IT" b="1" i="1" smtClean="0">
                        <a:latin typeface="Cambria Math" panose="02040503050406030204" pitchFamily="18" charset="0"/>
                        <a:ea typeface="Cambria Math" panose="02040503050406030204" pitchFamily="18" charset="0"/>
                      </a:rPr>
                      <m:t>∙</m:t>
                    </m:r>
                    <m:r>
                      <a:rPr lang="it-IT" b="1" i="1" smtClean="0">
                        <a:latin typeface="Cambria Math" panose="02040503050406030204" pitchFamily="18" charset="0"/>
                        <a:ea typeface="Cambria Math" panose="02040503050406030204" pitchFamily="18" charset="0"/>
                      </a:rPr>
                      <m:t>𝟏𝟎</m:t>
                    </m:r>
                    <m:r>
                      <a:rPr lang="it-IT" b="1" i="1" baseline="30000" smtClean="0">
                        <a:latin typeface="Cambria Math" panose="02040503050406030204" pitchFamily="18" charset="0"/>
                        <a:ea typeface="Cambria Math" panose="02040503050406030204" pitchFamily="18" charset="0"/>
                      </a:rPr>
                      <m:t>𝟐𝟏</m:t>
                    </m:r>
                  </m:oMath>
                </a14:m>
                <a:r>
                  <a:rPr lang="en-IT" b="1" dirty="0"/>
                  <a:t> [1/F</a:t>
                </a:r>
                <a:r>
                  <a:rPr lang="en-IT" b="1" baseline="30000" dirty="0"/>
                  <a:t>2</a:t>
                </a:r>
                <a:r>
                  <a:rPr lang="en-IT" b="1" dirty="0"/>
                  <a:t>]</a:t>
                </a:r>
                <a:endParaRPr lang="en-IT" dirty="0"/>
              </a:p>
              <a:p>
                <a:endParaRPr lang="en-IT" dirty="0"/>
              </a:p>
            </p:txBody>
          </p:sp>
        </mc:Choice>
        <mc:Fallback xmlns="">
          <p:sp>
            <p:nvSpPr>
              <p:cNvPr id="12" name="TextBox 11">
                <a:extLst>
                  <a:ext uri="{FF2B5EF4-FFF2-40B4-BE49-F238E27FC236}">
                    <a16:creationId xmlns:a16="http://schemas.microsoft.com/office/drawing/2014/main" id="{3C24C89E-7ECC-C68E-7641-900505AFD97B}"/>
                  </a:ext>
                </a:extLst>
              </p:cNvPr>
              <p:cNvSpPr txBox="1">
                <a:spLocks noRot="1" noChangeAspect="1" noMove="1" noResize="1" noEditPoints="1" noAdjustHandles="1" noChangeArrowheads="1" noChangeShapeType="1" noTextEdit="1"/>
              </p:cNvSpPr>
              <p:nvPr/>
            </p:nvSpPr>
            <p:spPr>
              <a:xfrm>
                <a:off x="6248107" y="3467285"/>
                <a:ext cx="3728906" cy="646331"/>
              </a:xfrm>
              <a:prstGeom prst="rect">
                <a:avLst/>
              </a:prstGeom>
              <a:blipFill>
                <a:blip r:embed="rId3"/>
                <a:stretch>
                  <a:fillRect l="-1361" t="-5882" r="-340"/>
                </a:stretch>
              </a:blipFill>
            </p:spPr>
            <p:txBody>
              <a:bodyPr/>
              <a:lstStyle/>
              <a:p>
                <a:r>
                  <a:rPr lang="en-IT">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324E621-E5EA-060B-9AA5-7F044BEC9293}"/>
                  </a:ext>
                </a:extLst>
              </p:cNvPr>
              <p:cNvSpPr txBox="1"/>
              <p:nvPr/>
            </p:nvSpPr>
            <p:spPr>
              <a:xfrm>
                <a:off x="6248107" y="3882380"/>
                <a:ext cx="2504446" cy="584775"/>
              </a:xfrm>
              <a:prstGeom prst="rect">
                <a:avLst/>
              </a:prstGeom>
              <a:noFill/>
            </p:spPr>
            <p:txBody>
              <a:bodyPr wrap="square">
                <a:spAutoFit/>
              </a:bodyPr>
              <a:lstStyle/>
              <a:p>
                <a:pPr latinLnBrk="1"/>
                <a:r>
                  <a:rPr lang="en-IT" sz="1600" dirty="0"/>
                  <a:t>min = 0.112 </a:t>
                </a:r>
                <a14:m>
                  <m:oMath xmlns:m="http://schemas.openxmlformats.org/officeDocument/2006/math">
                    <m:r>
                      <a:rPr lang="en-IT" sz="1600" b="0" i="1" smtClean="0">
                        <a:latin typeface="Cambria Math" panose="02040503050406030204" pitchFamily="18" charset="0"/>
                        <a:ea typeface="Cambria Math" panose="02040503050406030204" pitchFamily="18" charset="0"/>
                      </a:rPr>
                      <m:t>∙</m:t>
                    </m:r>
                    <m:r>
                      <a:rPr lang="it-IT" sz="1600" b="0" i="1" smtClean="0">
                        <a:latin typeface="Cambria Math" panose="02040503050406030204" pitchFamily="18" charset="0"/>
                        <a:ea typeface="Cambria Math" panose="02040503050406030204" pitchFamily="18" charset="0"/>
                      </a:rPr>
                      <m:t>10</m:t>
                    </m:r>
                    <m:r>
                      <a:rPr lang="it-IT" sz="1600" b="0" i="1" baseline="30000" smtClean="0">
                        <a:latin typeface="Cambria Math" panose="02040503050406030204" pitchFamily="18" charset="0"/>
                        <a:ea typeface="Cambria Math" panose="02040503050406030204" pitchFamily="18" charset="0"/>
                      </a:rPr>
                      <m:t>21</m:t>
                    </m:r>
                  </m:oMath>
                </a14:m>
                <a:r>
                  <a:rPr lang="en-IT" sz="1600" dirty="0"/>
                  <a:t> [1/F</a:t>
                </a:r>
                <a:r>
                  <a:rPr lang="en-IT" sz="1600" baseline="30000" dirty="0"/>
                  <a:t>2</a:t>
                </a:r>
                <a:r>
                  <a:rPr lang="en-IT" sz="1600" dirty="0"/>
                  <a:t>]</a:t>
                </a:r>
              </a:p>
              <a:p>
                <a:pPr latinLnBrk="1"/>
                <a:r>
                  <a:rPr lang="en-IT" sz="1600" dirty="0"/>
                  <a:t>max = 0.465</a:t>
                </a:r>
                <a14:m>
                  <m:oMath xmlns:m="http://schemas.openxmlformats.org/officeDocument/2006/math">
                    <m:r>
                      <a:rPr lang="en-IT" sz="1600" b="0" i="1" smtClean="0">
                        <a:latin typeface="Cambria Math" panose="02040503050406030204" pitchFamily="18" charset="0"/>
                        <a:ea typeface="Cambria Math" panose="02040503050406030204" pitchFamily="18" charset="0"/>
                      </a:rPr>
                      <m:t>∙</m:t>
                    </m:r>
                    <m:r>
                      <a:rPr lang="it-IT" sz="1600" b="0" i="1" smtClean="0">
                        <a:latin typeface="Cambria Math" panose="02040503050406030204" pitchFamily="18" charset="0"/>
                        <a:ea typeface="Cambria Math" panose="02040503050406030204" pitchFamily="18" charset="0"/>
                      </a:rPr>
                      <m:t>10</m:t>
                    </m:r>
                    <m:r>
                      <a:rPr lang="it-IT" sz="1600" b="0" i="1" baseline="30000" smtClean="0">
                        <a:latin typeface="Cambria Math" panose="02040503050406030204" pitchFamily="18" charset="0"/>
                        <a:ea typeface="Cambria Math" panose="02040503050406030204" pitchFamily="18" charset="0"/>
                      </a:rPr>
                      <m:t>21</m:t>
                    </m:r>
                  </m:oMath>
                </a14:m>
                <a:r>
                  <a:rPr lang="en-IT" sz="1600" dirty="0"/>
                  <a:t> [1/F</a:t>
                </a:r>
                <a:r>
                  <a:rPr lang="en-IT" sz="1600" baseline="30000" dirty="0"/>
                  <a:t>2</a:t>
                </a:r>
                <a:r>
                  <a:rPr lang="en-IT" sz="1600" dirty="0"/>
                  <a:t>]</a:t>
                </a:r>
                <a:endParaRPr lang="en-IT" sz="1400" dirty="0"/>
              </a:p>
            </p:txBody>
          </p:sp>
        </mc:Choice>
        <mc:Fallback xmlns="">
          <p:sp>
            <p:nvSpPr>
              <p:cNvPr id="13" name="TextBox 12">
                <a:extLst>
                  <a:ext uri="{FF2B5EF4-FFF2-40B4-BE49-F238E27FC236}">
                    <a16:creationId xmlns:a16="http://schemas.microsoft.com/office/drawing/2014/main" id="{3324E621-E5EA-060B-9AA5-7F044BEC9293}"/>
                  </a:ext>
                </a:extLst>
              </p:cNvPr>
              <p:cNvSpPr txBox="1">
                <a:spLocks noRot="1" noChangeAspect="1" noMove="1" noResize="1" noEditPoints="1" noAdjustHandles="1" noChangeArrowheads="1" noChangeShapeType="1" noTextEdit="1"/>
              </p:cNvSpPr>
              <p:nvPr/>
            </p:nvSpPr>
            <p:spPr>
              <a:xfrm>
                <a:off x="6248107" y="3882380"/>
                <a:ext cx="2504446" cy="584775"/>
              </a:xfrm>
              <a:prstGeom prst="rect">
                <a:avLst/>
              </a:prstGeom>
              <a:blipFill>
                <a:blip r:embed="rId4"/>
                <a:stretch>
                  <a:fillRect l="-1515" t="-2128" b="-14894"/>
                </a:stretch>
              </a:blipFill>
            </p:spPr>
            <p:txBody>
              <a:bodyPr/>
              <a:lstStyle/>
              <a:p>
                <a:r>
                  <a:rPr lang="en-IT">
                    <a:noFill/>
                  </a:rPr>
                  <a:t> </a:t>
                </a:r>
              </a:p>
            </p:txBody>
          </p:sp>
        </mc:Fallback>
      </mc:AlternateContent>
      <p:cxnSp>
        <p:nvCxnSpPr>
          <p:cNvPr id="14" name="Straight Connector 13">
            <a:extLst>
              <a:ext uri="{FF2B5EF4-FFF2-40B4-BE49-F238E27FC236}">
                <a16:creationId xmlns:a16="http://schemas.microsoft.com/office/drawing/2014/main" id="{62840565-FAD6-0F62-522A-282B5E32B95E}"/>
              </a:ext>
            </a:extLst>
          </p:cNvPr>
          <p:cNvCxnSpPr>
            <a:cxnSpLocks/>
          </p:cNvCxnSpPr>
          <p:nvPr/>
        </p:nvCxnSpPr>
        <p:spPr>
          <a:xfrm>
            <a:off x="5696805" y="1741194"/>
            <a:ext cx="12104" cy="2799104"/>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A2E44D-5ABB-7AC0-A1CE-B703F972536E}"/>
              </a:ext>
            </a:extLst>
          </p:cNvPr>
          <p:cNvCxnSpPr>
            <a:cxnSpLocks/>
          </p:cNvCxnSpPr>
          <p:nvPr/>
        </p:nvCxnSpPr>
        <p:spPr>
          <a:xfrm>
            <a:off x="800911" y="5771198"/>
            <a:ext cx="10941323"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275CAEE-355A-FC4B-2ED2-859479F49CAF}"/>
              </a:ext>
            </a:extLst>
          </p:cNvPr>
          <p:cNvSpPr txBox="1"/>
          <p:nvPr/>
        </p:nvSpPr>
        <p:spPr>
          <a:xfrm>
            <a:off x="1115122" y="5977054"/>
            <a:ext cx="4010072" cy="369332"/>
          </a:xfrm>
          <a:prstGeom prst="rect">
            <a:avLst/>
          </a:prstGeom>
          <a:noFill/>
        </p:spPr>
        <p:txBody>
          <a:bodyPr wrap="none" rtlCol="0">
            <a:spAutoFit/>
          </a:bodyPr>
          <a:lstStyle/>
          <a:p>
            <a:r>
              <a:rPr lang="en-IT" dirty="0"/>
              <a:t>Range (15% -40%) nella prossima slide ....</a:t>
            </a:r>
          </a:p>
        </p:txBody>
      </p:sp>
      <p:sp>
        <p:nvSpPr>
          <p:cNvPr id="17" name="TextBox 16">
            <a:extLst>
              <a:ext uri="{FF2B5EF4-FFF2-40B4-BE49-F238E27FC236}">
                <a16:creationId xmlns:a16="http://schemas.microsoft.com/office/drawing/2014/main" id="{6B2217CC-A8DC-C39F-C723-71111038EF6A}"/>
              </a:ext>
            </a:extLst>
          </p:cNvPr>
          <p:cNvSpPr txBox="1"/>
          <p:nvPr/>
        </p:nvSpPr>
        <p:spPr>
          <a:xfrm>
            <a:off x="401443" y="5977054"/>
            <a:ext cx="399468" cy="369332"/>
          </a:xfrm>
          <a:prstGeom prst="rect">
            <a:avLst/>
          </a:prstGeom>
          <a:noFill/>
        </p:spPr>
        <p:txBody>
          <a:bodyPr wrap="none" rtlCol="0">
            <a:spAutoFit/>
          </a:bodyPr>
          <a:lstStyle/>
          <a:p>
            <a:r>
              <a:rPr lang="en-IT" b="1" dirty="0"/>
              <a:t>2)</a:t>
            </a:r>
          </a:p>
        </p:txBody>
      </p:sp>
      <p:sp>
        <p:nvSpPr>
          <p:cNvPr id="18" name="TextBox 17">
            <a:extLst>
              <a:ext uri="{FF2B5EF4-FFF2-40B4-BE49-F238E27FC236}">
                <a16:creationId xmlns:a16="http://schemas.microsoft.com/office/drawing/2014/main" id="{D324BF14-2361-3866-9358-E82D883488F9}"/>
              </a:ext>
            </a:extLst>
          </p:cNvPr>
          <p:cNvSpPr txBox="1"/>
          <p:nvPr/>
        </p:nvSpPr>
        <p:spPr>
          <a:xfrm>
            <a:off x="361377" y="2053388"/>
            <a:ext cx="399468" cy="369332"/>
          </a:xfrm>
          <a:prstGeom prst="rect">
            <a:avLst/>
          </a:prstGeom>
          <a:noFill/>
        </p:spPr>
        <p:txBody>
          <a:bodyPr wrap="none" rtlCol="0">
            <a:spAutoFit/>
          </a:bodyPr>
          <a:lstStyle/>
          <a:p>
            <a:r>
              <a:rPr lang="en-IT" b="1" dirty="0"/>
              <a:t>1)</a:t>
            </a:r>
          </a:p>
        </p:txBody>
      </p:sp>
    </p:spTree>
    <p:extLst>
      <p:ext uri="{BB962C8B-B14F-4D97-AF65-F5344CB8AC3E}">
        <p14:creationId xmlns:p14="http://schemas.microsoft.com/office/powerpoint/2010/main" val="3520641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4406F-A3CA-5B03-2027-F54FE4A45BFC}"/>
              </a:ext>
            </a:extLst>
          </p:cNvPr>
          <p:cNvSpPr>
            <a:spLocks noGrp="1"/>
          </p:cNvSpPr>
          <p:nvPr>
            <p:ph type="title"/>
          </p:nvPr>
        </p:nvSpPr>
        <p:spPr>
          <a:xfrm>
            <a:off x="2231136" y="145985"/>
            <a:ext cx="7729728" cy="1188720"/>
          </a:xfrm>
        </p:spPr>
        <p:txBody>
          <a:bodyPr/>
          <a:lstStyle/>
          <a:p>
            <a:r>
              <a:rPr lang="en-IT" dirty="0"/>
              <a:t>RANGE 15% - 40% </a:t>
            </a:r>
          </a:p>
        </p:txBody>
      </p:sp>
      <p:sp>
        <p:nvSpPr>
          <p:cNvPr id="3" name="Content Placeholder 2">
            <a:extLst>
              <a:ext uri="{FF2B5EF4-FFF2-40B4-BE49-F238E27FC236}">
                <a16:creationId xmlns:a16="http://schemas.microsoft.com/office/drawing/2014/main" id="{9C949590-7FED-8AE7-0479-FDAA8DE7774E}"/>
              </a:ext>
            </a:extLst>
          </p:cNvPr>
          <p:cNvSpPr>
            <a:spLocks noGrp="1"/>
          </p:cNvSpPr>
          <p:nvPr>
            <p:ph idx="1"/>
          </p:nvPr>
        </p:nvSpPr>
        <p:spPr>
          <a:xfrm>
            <a:off x="6096000" y="1818151"/>
            <a:ext cx="4697748" cy="706289"/>
          </a:xfrm>
        </p:spPr>
        <p:txBody>
          <a:bodyPr>
            <a:normAutofit/>
          </a:bodyPr>
          <a:lstStyle/>
          <a:p>
            <a:r>
              <a:rPr lang="en-IT" sz="1600" dirty="0"/>
              <a:t>Il numero medio di punti utilizzati per il fit  nella regione di bulk è: </a:t>
            </a:r>
          </a:p>
        </p:txBody>
      </p:sp>
      <p:pic>
        <p:nvPicPr>
          <p:cNvPr id="5" name="Picture 4">
            <a:extLst>
              <a:ext uri="{FF2B5EF4-FFF2-40B4-BE49-F238E27FC236}">
                <a16:creationId xmlns:a16="http://schemas.microsoft.com/office/drawing/2014/main" id="{5933BE53-0FB9-5224-CB09-B41080F2EBFB}"/>
              </a:ext>
            </a:extLst>
          </p:cNvPr>
          <p:cNvPicPr>
            <a:picLocks noChangeAspect="1"/>
          </p:cNvPicPr>
          <p:nvPr/>
        </p:nvPicPr>
        <p:blipFill>
          <a:blip r:embed="rId2"/>
          <a:stretch>
            <a:fillRect/>
          </a:stretch>
        </p:blipFill>
        <p:spPr>
          <a:xfrm>
            <a:off x="390812" y="1678330"/>
            <a:ext cx="5521683" cy="4278754"/>
          </a:xfrm>
          <a:prstGeom prst="rect">
            <a:avLst/>
          </a:prstGeom>
        </p:spPr>
      </p:pic>
      <p:sp>
        <p:nvSpPr>
          <p:cNvPr id="7" name="TextBox 6">
            <a:extLst>
              <a:ext uri="{FF2B5EF4-FFF2-40B4-BE49-F238E27FC236}">
                <a16:creationId xmlns:a16="http://schemas.microsoft.com/office/drawing/2014/main" id="{F554AC18-D6C0-76C4-D7EA-893F6D36F1E8}"/>
              </a:ext>
            </a:extLst>
          </p:cNvPr>
          <p:cNvSpPr txBox="1"/>
          <p:nvPr/>
        </p:nvSpPr>
        <p:spPr>
          <a:xfrm>
            <a:off x="6360914" y="2427914"/>
            <a:ext cx="1021433" cy="369332"/>
          </a:xfrm>
          <a:prstGeom prst="rect">
            <a:avLst/>
          </a:prstGeom>
          <a:noFill/>
        </p:spPr>
        <p:txBody>
          <a:bodyPr wrap="none" rtlCol="0">
            <a:spAutoFit/>
          </a:bodyPr>
          <a:lstStyle/>
          <a:p>
            <a:r>
              <a:rPr lang="en-IT" b="1" dirty="0"/>
              <a:t>N= 8.57</a:t>
            </a:r>
          </a:p>
        </p:txBody>
      </p:sp>
      <p:sp>
        <p:nvSpPr>
          <p:cNvPr id="8" name="TextBox 7">
            <a:extLst>
              <a:ext uri="{FF2B5EF4-FFF2-40B4-BE49-F238E27FC236}">
                <a16:creationId xmlns:a16="http://schemas.microsoft.com/office/drawing/2014/main" id="{D1CFB342-0135-2C88-CDBD-88C0D6794521}"/>
              </a:ext>
            </a:extLst>
          </p:cNvPr>
          <p:cNvSpPr txBox="1"/>
          <p:nvPr/>
        </p:nvSpPr>
        <p:spPr>
          <a:xfrm>
            <a:off x="7912173" y="2452839"/>
            <a:ext cx="3052439" cy="307777"/>
          </a:xfrm>
          <a:prstGeom prst="rect">
            <a:avLst/>
          </a:prstGeom>
          <a:noFill/>
        </p:spPr>
        <p:txBody>
          <a:bodyPr wrap="none" rtlCol="0">
            <a:spAutoFit/>
          </a:bodyPr>
          <a:lstStyle/>
          <a:p>
            <a:r>
              <a:rPr lang="en-IT" sz="1400" dirty="0"/>
              <a:t>con un minimo di 7 e un massimo di 10</a:t>
            </a:r>
          </a:p>
        </p:txBody>
      </p:sp>
      <p:sp>
        <p:nvSpPr>
          <p:cNvPr id="10" name="Content Placeholder 2">
            <a:extLst>
              <a:ext uri="{FF2B5EF4-FFF2-40B4-BE49-F238E27FC236}">
                <a16:creationId xmlns:a16="http://schemas.microsoft.com/office/drawing/2014/main" id="{FED9050F-0D6B-2AED-A036-CF388F02C8CE}"/>
              </a:ext>
            </a:extLst>
          </p:cNvPr>
          <p:cNvSpPr txBox="1">
            <a:spLocks/>
          </p:cNvSpPr>
          <p:nvPr/>
        </p:nvSpPr>
        <p:spPr>
          <a:xfrm>
            <a:off x="6096000" y="3040657"/>
            <a:ext cx="4697748" cy="51214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T" dirty="0"/>
              <a:t>Chi^2 ridotto medio:</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4E0BF7D-6D77-20FE-626F-B49AEF585CB4}"/>
                  </a:ext>
                </a:extLst>
              </p:cNvPr>
              <p:cNvSpPr txBox="1"/>
              <p:nvPr/>
            </p:nvSpPr>
            <p:spPr>
              <a:xfrm>
                <a:off x="6360914" y="3431073"/>
                <a:ext cx="1853392" cy="369332"/>
              </a:xfrm>
              <a:prstGeom prst="rect">
                <a:avLst/>
              </a:prstGeom>
              <a:noFill/>
            </p:spPr>
            <p:txBody>
              <a:bodyPr wrap="none" rtlCol="0">
                <a:spAutoFit/>
              </a:bodyPr>
              <a:lstStyle/>
              <a:p>
                <a14:m>
                  <m:oMath xmlns:m="http://schemas.openxmlformats.org/officeDocument/2006/math">
                    <m:r>
                      <a:rPr lang="en-IT" b="1" i="1" smtClean="0">
                        <a:latin typeface="Cambria Math" panose="02040503050406030204" pitchFamily="18" charset="0"/>
                        <a:ea typeface="Cambria Math" panose="02040503050406030204" pitchFamily="18" charset="0"/>
                      </a:rPr>
                      <m:t>𝝌</m:t>
                    </m:r>
                    <m:r>
                      <a:rPr lang="it-IT" b="1" i="1" baseline="30000" smtClean="0">
                        <a:latin typeface="Cambria Math" panose="02040503050406030204" pitchFamily="18" charset="0"/>
                        <a:ea typeface="Cambria Math" panose="02040503050406030204" pitchFamily="18" charset="0"/>
                      </a:rPr>
                      <m:t>𝟐</m:t>
                    </m:r>
                  </m:oMath>
                </a14:m>
                <a:r>
                  <a:rPr lang="en-IT" b="1" dirty="0"/>
                  <a:t>_mean = 9.48</a:t>
                </a:r>
              </a:p>
            </p:txBody>
          </p:sp>
        </mc:Choice>
        <mc:Fallback xmlns="">
          <p:sp>
            <p:nvSpPr>
              <p:cNvPr id="11" name="TextBox 10">
                <a:extLst>
                  <a:ext uri="{FF2B5EF4-FFF2-40B4-BE49-F238E27FC236}">
                    <a16:creationId xmlns:a16="http://schemas.microsoft.com/office/drawing/2014/main" id="{A4E0BF7D-6D77-20FE-626F-B49AEF585CB4}"/>
                  </a:ext>
                </a:extLst>
              </p:cNvPr>
              <p:cNvSpPr txBox="1">
                <a:spLocks noRot="1" noChangeAspect="1" noMove="1" noResize="1" noEditPoints="1" noAdjustHandles="1" noChangeArrowheads="1" noChangeShapeType="1" noTextEdit="1"/>
              </p:cNvSpPr>
              <p:nvPr/>
            </p:nvSpPr>
            <p:spPr>
              <a:xfrm>
                <a:off x="6360914" y="3431073"/>
                <a:ext cx="1853392" cy="369332"/>
              </a:xfrm>
              <a:prstGeom prst="rect">
                <a:avLst/>
              </a:prstGeom>
              <a:blipFill>
                <a:blip r:embed="rId3"/>
                <a:stretch>
                  <a:fillRect t="-10000" r="-2041" b="-23333"/>
                </a:stretch>
              </a:blipFill>
            </p:spPr>
            <p:txBody>
              <a:bodyPr/>
              <a:lstStyle/>
              <a:p>
                <a:r>
                  <a:rPr lang="en-IT">
                    <a:noFill/>
                  </a:rPr>
                  <a:t> </a:t>
                </a:r>
              </a:p>
            </p:txBody>
          </p:sp>
        </mc:Fallback>
      </mc:AlternateContent>
      <p:sp>
        <p:nvSpPr>
          <p:cNvPr id="12" name="TextBox 11">
            <a:extLst>
              <a:ext uri="{FF2B5EF4-FFF2-40B4-BE49-F238E27FC236}">
                <a16:creationId xmlns:a16="http://schemas.microsoft.com/office/drawing/2014/main" id="{D3540851-E026-F933-EA54-0688E359EEC1}"/>
              </a:ext>
            </a:extLst>
          </p:cNvPr>
          <p:cNvSpPr txBox="1"/>
          <p:nvPr/>
        </p:nvSpPr>
        <p:spPr>
          <a:xfrm>
            <a:off x="8656102" y="3022313"/>
            <a:ext cx="1564580" cy="830997"/>
          </a:xfrm>
          <a:prstGeom prst="rect">
            <a:avLst/>
          </a:prstGeom>
          <a:noFill/>
        </p:spPr>
        <p:txBody>
          <a:bodyPr wrap="square" rtlCol="0">
            <a:spAutoFit/>
          </a:bodyPr>
          <a:lstStyle/>
          <a:p>
            <a:r>
              <a:rPr lang="en-IT" sz="1600" dirty="0"/>
              <a:t> </a:t>
            </a:r>
          </a:p>
          <a:p>
            <a:r>
              <a:rPr lang="en-IT" sz="1600" dirty="0"/>
              <a:t> - min = 1.74  </a:t>
            </a:r>
          </a:p>
          <a:p>
            <a:r>
              <a:rPr lang="en-IT" sz="1600" dirty="0"/>
              <a:t> - max = 33.98</a:t>
            </a:r>
          </a:p>
        </p:txBody>
      </p:sp>
      <p:sp>
        <p:nvSpPr>
          <p:cNvPr id="15" name="Content Placeholder 2">
            <a:extLst>
              <a:ext uri="{FF2B5EF4-FFF2-40B4-BE49-F238E27FC236}">
                <a16:creationId xmlns:a16="http://schemas.microsoft.com/office/drawing/2014/main" id="{C288548D-B192-0CE5-A874-C21502A3D475}"/>
              </a:ext>
            </a:extLst>
          </p:cNvPr>
          <p:cNvSpPr txBox="1">
            <a:spLocks/>
          </p:cNvSpPr>
          <p:nvPr/>
        </p:nvSpPr>
        <p:spPr>
          <a:xfrm>
            <a:off x="6360914" y="4190821"/>
            <a:ext cx="4697748" cy="51214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latinLnBrk="1">
              <a:buNone/>
            </a:pPr>
            <a:endParaRPr lang="en-IT" dirty="0"/>
          </a:p>
        </p:txBody>
      </p:sp>
      <p:sp>
        <p:nvSpPr>
          <p:cNvPr id="16" name="Content Placeholder 2">
            <a:extLst>
              <a:ext uri="{FF2B5EF4-FFF2-40B4-BE49-F238E27FC236}">
                <a16:creationId xmlns:a16="http://schemas.microsoft.com/office/drawing/2014/main" id="{B7CA2A2C-E935-4645-40F0-7D2D2F8F7A58}"/>
              </a:ext>
            </a:extLst>
          </p:cNvPr>
          <p:cNvSpPr txBox="1">
            <a:spLocks/>
          </p:cNvSpPr>
          <p:nvPr/>
        </p:nvSpPr>
        <p:spPr>
          <a:xfrm>
            <a:off x="6096000" y="3875412"/>
            <a:ext cx="4697748" cy="93478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latinLnBrk="1">
              <a:buNone/>
            </a:pPr>
            <a:endParaRPr lang="en-IT" dirty="0"/>
          </a:p>
          <a:p>
            <a:pPr latinLnBrk="1"/>
            <a:r>
              <a:rPr lang="en-IT" dirty="0"/>
              <a:t>Radice errore quadratico medio:</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46EE8BF-E933-FECD-246B-510732B1216B}"/>
                  </a:ext>
                </a:extLst>
              </p:cNvPr>
              <p:cNvSpPr txBox="1"/>
              <p:nvPr/>
            </p:nvSpPr>
            <p:spPr>
              <a:xfrm>
                <a:off x="6314935" y="4662205"/>
                <a:ext cx="3728906" cy="646331"/>
              </a:xfrm>
              <a:prstGeom prst="rect">
                <a:avLst/>
              </a:prstGeom>
              <a:noFill/>
            </p:spPr>
            <p:txBody>
              <a:bodyPr wrap="none" rtlCol="0">
                <a:spAutoFit/>
              </a:bodyPr>
              <a:lstStyle/>
              <a:p>
                <a:pPr latinLnBrk="1"/>
                <a:r>
                  <a:rPr lang="en-IT" b="1" dirty="0"/>
                  <a:t>RMSE medio = 0.257 </a:t>
                </a:r>
                <a14:m>
                  <m:oMath xmlns:m="http://schemas.openxmlformats.org/officeDocument/2006/math">
                    <m:r>
                      <a:rPr lang="en-IT" b="1" i="1" smtClean="0">
                        <a:latin typeface="Cambria Math" panose="02040503050406030204" pitchFamily="18" charset="0"/>
                        <a:ea typeface="Cambria Math" panose="02040503050406030204" pitchFamily="18" charset="0"/>
                      </a:rPr>
                      <m:t>∙</m:t>
                    </m:r>
                    <m:r>
                      <a:rPr lang="it-IT" b="1" i="1" smtClean="0">
                        <a:latin typeface="Cambria Math" panose="02040503050406030204" pitchFamily="18" charset="0"/>
                        <a:ea typeface="Cambria Math" panose="02040503050406030204" pitchFamily="18" charset="0"/>
                      </a:rPr>
                      <m:t>𝟏𝟎</m:t>
                    </m:r>
                    <m:r>
                      <a:rPr lang="it-IT" b="1" i="1" baseline="30000" smtClean="0">
                        <a:latin typeface="Cambria Math" panose="02040503050406030204" pitchFamily="18" charset="0"/>
                        <a:ea typeface="Cambria Math" panose="02040503050406030204" pitchFamily="18" charset="0"/>
                      </a:rPr>
                      <m:t>𝟐𝟏</m:t>
                    </m:r>
                  </m:oMath>
                </a14:m>
                <a:r>
                  <a:rPr lang="en-IT" b="1" dirty="0"/>
                  <a:t> [1/F</a:t>
                </a:r>
                <a:r>
                  <a:rPr lang="en-IT" b="1" baseline="30000" dirty="0"/>
                  <a:t>2</a:t>
                </a:r>
                <a:r>
                  <a:rPr lang="en-IT" b="1" dirty="0"/>
                  <a:t>]</a:t>
                </a:r>
                <a:endParaRPr lang="en-IT" dirty="0"/>
              </a:p>
              <a:p>
                <a:endParaRPr lang="en-IT" dirty="0"/>
              </a:p>
            </p:txBody>
          </p:sp>
        </mc:Choice>
        <mc:Fallback xmlns="">
          <p:sp>
            <p:nvSpPr>
              <p:cNvPr id="17" name="TextBox 16">
                <a:extLst>
                  <a:ext uri="{FF2B5EF4-FFF2-40B4-BE49-F238E27FC236}">
                    <a16:creationId xmlns:a16="http://schemas.microsoft.com/office/drawing/2014/main" id="{346EE8BF-E933-FECD-246B-510732B1216B}"/>
                  </a:ext>
                </a:extLst>
              </p:cNvPr>
              <p:cNvSpPr txBox="1">
                <a:spLocks noRot="1" noChangeAspect="1" noMove="1" noResize="1" noEditPoints="1" noAdjustHandles="1" noChangeArrowheads="1" noChangeShapeType="1" noTextEdit="1"/>
              </p:cNvSpPr>
              <p:nvPr/>
            </p:nvSpPr>
            <p:spPr>
              <a:xfrm>
                <a:off x="6314935" y="4662205"/>
                <a:ext cx="3728906" cy="646331"/>
              </a:xfrm>
              <a:prstGeom prst="rect">
                <a:avLst/>
              </a:prstGeom>
              <a:blipFill>
                <a:blip r:embed="rId4"/>
                <a:stretch>
                  <a:fillRect l="-1695" t="-5769"/>
                </a:stretch>
              </a:blipFill>
            </p:spPr>
            <p:txBody>
              <a:bodyPr/>
              <a:lstStyle/>
              <a:p>
                <a:r>
                  <a:rPr lang="en-IT">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9AD6C3C-8100-B940-EBE7-A79E1812545A}"/>
                  </a:ext>
                </a:extLst>
              </p:cNvPr>
              <p:cNvSpPr txBox="1"/>
              <p:nvPr/>
            </p:nvSpPr>
            <p:spPr>
              <a:xfrm>
                <a:off x="6314935" y="5125609"/>
                <a:ext cx="3356110" cy="646331"/>
              </a:xfrm>
              <a:prstGeom prst="rect">
                <a:avLst/>
              </a:prstGeom>
              <a:noFill/>
            </p:spPr>
            <p:txBody>
              <a:bodyPr wrap="square">
                <a:spAutoFit/>
              </a:bodyPr>
              <a:lstStyle/>
              <a:p>
                <a:pPr latinLnBrk="1"/>
                <a:r>
                  <a:rPr lang="en-IT" sz="1800" dirty="0"/>
                  <a:t>min = 0.114 </a:t>
                </a:r>
                <a14:m>
                  <m:oMath xmlns:m="http://schemas.openxmlformats.org/officeDocument/2006/math">
                    <m:r>
                      <a:rPr lang="en-IT" sz="1800" b="0" i="1" smtClean="0">
                        <a:latin typeface="Cambria Math" panose="02040503050406030204" pitchFamily="18" charset="0"/>
                        <a:ea typeface="Cambria Math" panose="02040503050406030204" pitchFamily="18" charset="0"/>
                      </a:rPr>
                      <m:t>∙</m:t>
                    </m:r>
                    <m:r>
                      <a:rPr lang="it-IT" sz="1800" b="0" i="1" smtClean="0">
                        <a:latin typeface="Cambria Math" panose="02040503050406030204" pitchFamily="18" charset="0"/>
                        <a:ea typeface="Cambria Math" panose="02040503050406030204" pitchFamily="18" charset="0"/>
                      </a:rPr>
                      <m:t>10</m:t>
                    </m:r>
                    <m:r>
                      <a:rPr lang="it-IT" sz="1800" b="0" i="1" baseline="30000" smtClean="0">
                        <a:latin typeface="Cambria Math" panose="02040503050406030204" pitchFamily="18" charset="0"/>
                        <a:ea typeface="Cambria Math" panose="02040503050406030204" pitchFamily="18" charset="0"/>
                      </a:rPr>
                      <m:t>21</m:t>
                    </m:r>
                  </m:oMath>
                </a14:m>
                <a:r>
                  <a:rPr lang="en-IT" sz="1800" dirty="0"/>
                  <a:t> [1/F</a:t>
                </a:r>
                <a:r>
                  <a:rPr lang="en-IT" sz="1800" baseline="30000" dirty="0"/>
                  <a:t>2</a:t>
                </a:r>
                <a:r>
                  <a:rPr lang="en-IT" sz="1800" dirty="0"/>
                  <a:t>]</a:t>
                </a:r>
              </a:p>
              <a:p>
                <a:pPr latinLnBrk="1"/>
                <a:r>
                  <a:rPr lang="en-IT" sz="1800" dirty="0"/>
                  <a:t>max = 0.493</a:t>
                </a:r>
                <a14:m>
                  <m:oMath xmlns:m="http://schemas.openxmlformats.org/officeDocument/2006/math">
                    <m:r>
                      <a:rPr lang="en-IT" sz="1800" b="0" i="1" smtClean="0">
                        <a:latin typeface="Cambria Math" panose="02040503050406030204" pitchFamily="18" charset="0"/>
                        <a:ea typeface="Cambria Math" panose="02040503050406030204" pitchFamily="18" charset="0"/>
                      </a:rPr>
                      <m:t>∙</m:t>
                    </m:r>
                    <m:r>
                      <a:rPr lang="it-IT" sz="1800" b="0" i="1" smtClean="0">
                        <a:latin typeface="Cambria Math" panose="02040503050406030204" pitchFamily="18" charset="0"/>
                        <a:ea typeface="Cambria Math" panose="02040503050406030204" pitchFamily="18" charset="0"/>
                      </a:rPr>
                      <m:t>10</m:t>
                    </m:r>
                    <m:r>
                      <a:rPr lang="it-IT" sz="1800" b="0" i="1" baseline="30000" smtClean="0">
                        <a:latin typeface="Cambria Math" panose="02040503050406030204" pitchFamily="18" charset="0"/>
                        <a:ea typeface="Cambria Math" panose="02040503050406030204" pitchFamily="18" charset="0"/>
                      </a:rPr>
                      <m:t>21</m:t>
                    </m:r>
                  </m:oMath>
                </a14:m>
                <a:r>
                  <a:rPr lang="en-IT" sz="1800" dirty="0"/>
                  <a:t> [1/F</a:t>
                </a:r>
                <a:r>
                  <a:rPr lang="en-IT" sz="1800" baseline="30000" dirty="0"/>
                  <a:t>2</a:t>
                </a:r>
                <a:r>
                  <a:rPr lang="en-IT" sz="1800" dirty="0"/>
                  <a:t>]</a:t>
                </a:r>
              </a:p>
            </p:txBody>
          </p:sp>
        </mc:Choice>
        <mc:Fallback xmlns="">
          <p:sp>
            <p:nvSpPr>
              <p:cNvPr id="19" name="TextBox 18">
                <a:extLst>
                  <a:ext uri="{FF2B5EF4-FFF2-40B4-BE49-F238E27FC236}">
                    <a16:creationId xmlns:a16="http://schemas.microsoft.com/office/drawing/2014/main" id="{69AD6C3C-8100-B940-EBE7-A79E1812545A}"/>
                  </a:ext>
                </a:extLst>
              </p:cNvPr>
              <p:cNvSpPr txBox="1">
                <a:spLocks noRot="1" noChangeAspect="1" noMove="1" noResize="1" noEditPoints="1" noAdjustHandles="1" noChangeArrowheads="1" noChangeShapeType="1" noTextEdit="1"/>
              </p:cNvSpPr>
              <p:nvPr/>
            </p:nvSpPr>
            <p:spPr>
              <a:xfrm>
                <a:off x="6314935" y="5125609"/>
                <a:ext cx="3356110" cy="646331"/>
              </a:xfrm>
              <a:prstGeom prst="rect">
                <a:avLst/>
              </a:prstGeom>
              <a:blipFill>
                <a:blip r:embed="rId5"/>
                <a:stretch>
                  <a:fillRect l="-1887" t="-3846" b="-13462"/>
                </a:stretch>
              </a:blipFill>
            </p:spPr>
            <p:txBody>
              <a:bodyPr/>
              <a:lstStyle/>
              <a:p>
                <a:r>
                  <a:rPr lang="en-IT">
                    <a:noFill/>
                  </a:rPr>
                  <a:t> </a:t>
                </a:r>
              </a:p>
            </p:txBody>
          </p:sp>
        </mc:Fallback>
      </mc:AlternateContent>
      <p:cxnSp>
        <p:nvCxnSpPr>
          <p:cNvPr id="21" name="Straight Connector 20">
            <a:extLst>
              <a:ext uri="{FF2B5EF4-FFF2-40B4-BE49-F238E27FC236}">
                <a16:creationId xmlns:a16="http://schemas.microsoft.com/office/drawing/2014/main" id="{74110DA3-1BB6-CE1C-4DD2-DD325A95CA56}"/>
              </a:ext>
            </a:extLst>
          </p:cNvPr>
          <p:cNvCxnSpPr/>
          <p:nvPr/>
        </p:nvCxnSpPr>
        <p:spPr>
          <a:xfrm>
            <a:off x="6376592" y="2907169"/>
            <a:ext cx="45880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6F4C38-2B13-D58D-C272-9915C74AC316}"/>
              </a:ext>
            </a:extLst>
          </p:cNvPr>
          <p:cNvCxnSpPr/>
          <p:nvPr/>
        </p:nvCxnSpPr>
        <p:spPr>
          <a:xfrm>
            <a:off x="6376592" y="4098515"/>
            <a:ext cx="45880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8AB21A6-86AF-D646-305C-7356FE1CF08F}"/>
                  </a:ext>
                </a:extLst>
              </p:cNvPr>
              <p:cNvSpPr txBox="1"/>
              <p:nvPr/>
            </p:nvSpPr>
            <p:spPr>
              <a:xfrm>
                <a:off x="499795" y="6340929"/>
                <a:ext cx="11192410" cy="338554"/>
              </a:xfrm>
              <a:prstGeom prst="rect">
                <a:avLst/>
              </a:prstGeom>
              <a:noFill/>
            </p:spPr>
            <p:txBody>
              <a:bodyPr wrap="square" rtlCol="0">
                <a:spAutoFit/>
              </a:bodyPr>
              <a:lstStyle/>
              <a:p>
                <a:r>
                  <a:rPr lang="en-GB" sz="1600" dirty="0"/>
                  <a:t>N</a:t>
                </a:r>
                <a:r>
                  <a:rPr lang="en-IT" sz="1600" dirty="0"/>
                  <a:t>ota: il </a:t>
                </a:r>
                <a14:m>
                  <m:oMath xmlns:m="http://schemas.openxmlformats.org/officeDocument/2006/math">
                    <m:r>
                      <a:rPr lang="en-IT" sz="1600" b="0" i="1">
                        <a:latin typeface="Cambria Math" panose="02040503050406030204" pitchFamily="18" charset="0"/>
                        <a:ea typeface="Cambria Math" panose="02040503050406030204" pitchFamily="18" charset="0"/>
                      </a:rPr>
                      <m:t>𝜒</m:t>
                    </m:r>
                    <m:r>
                      <a:rPr lang="it-IT" sz="1600" b="0" i="1" baseline="30000">
                        <a:latin typeface="Cambria Math" panose="02040503050406030204" pitchFamily="18" charset="0"/>
                        <a:ea typeface="Cambria Math" panose="02040503050406030204" pitchFamily="18" charset="0"/>
                      </a:rPr>
                      <m:t>2</m:t>
                    </m:r>
                    <m:r>
                      <a:rPr lang="it-IT" sz="1600" b="0" i="1" baseline="30000" smtClean="0">
                        <a:latin typeface="Cambria Math" panose="02040503050406030204" pitchFamily="18" charset="0"/>
                        <a:ea typeface="Cambria Math" panose="02040503050406030204" pitchFamily="18" charset="0"/>
                      </a:rPr>
                      <m:t> </m:t>
                    </m:r>
                  </m:oMath>
                </a14:m>
                <a:r>
                  <a:rPr lang="en-IT" sz="1600" dirty="0"/>
                  <a:t>mostrato è scalato di un fattore 10</a:t>
                </a:r>
                <a:r>
                  <a:rPr lang="en-IT" sz="1600" baseline="30000" dirty="0"/>
                  <a:t>40</a:t>
                </a:r>
                <a:r>
                  <a:rPr lang="en-IT" sz="1600" dirty="0"/>
                  <a:t> . Esso non ha significato statistico in quanto non si è espresso l’errore di V bias e 1/C</a:t>
                </a:r>
                <a:r>
                  <a:rPr lang="en-IT" sz="1600" baseline="30000" dirty="0"/>
                  <a:t>2</a:t>
                </a:r>
              </a:p>
            </p:txBody>
          </p:sp>
        </mc:Choice>
        <mc:Fallback xmlns="">
          <p:sp>
            <p:nvSpPr>
              <p:cNvPr id="23" name="TextBox 22">
                <a:extLst>
                  <a:ext uri="{FF2B5EF4-FFF2-40B4-BE49-F238E27FC236}">
                    <a16:creationId xmlns:a16="http://schemas.microsoft.com/office/drawing/2014/main" id="{88AB21A6-86AF-D646-305C-7356FE1CF08F}"/>
                  </a:ext>
                </a:extLst>
              </p:cNvPr>
              <p:cNvSpPr txBox="1">
                <a:spLocks noRot="1" noChangeAspect="1" noMove="1" noResize="1" noEditPoints="1" noAdjustHandles="1" noChangeArrowheads="1" noChangeShapeType="1" noTextEdit="1"/>
              </p:cNvSpPr>
              <p:nvPr/>
            </p:nvSpPr>
            <p:spPr>
              <a:xfrm>
                <a:off x="499795" y="6340929"/>
                <a:ext cx="11192410" cy="338554"/>
              </a:xfrm>
              <a:prstGeom prst="rect">
                <a:avLst/>
              </a:prstGeom>
              <a:blipFill>
                <a:blip r:embed="rId6"/>
                <a:stretch>
                  <a:fillRect l="-340" t="-10714" b="-17857"/>
                </a:stretch>
              </a:blipFill>
            </p:spPr>
            <p:txBody>
              <a:bodyPr/>
              <a:lstStyle/>
              <a:p>
                <a:r>
                  <a:rPr lang="en-IT">
                    <a:noFill/>
                  </a:rPr>
                  <a:t> </a:t>
                </a:r>
              </a:p>
            </p:txBody>
          </p:sp>
        </mc:Fallback>
      </mc:AlternateContent>
    </p:spTree>
    <p:extLst>
      <p:ext uri="{BB962C8B-B14F-4D97-AF65-F5344CB8AC3E}">
        <p14:creationId xmlns:p14="http://schemas.microsoft.com/office/powerpoint/2010/main" val="1154734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9B000-6C62-3A2E-91A7-1A1265C43E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5A896-2D66-9F9B-36DB-F170439210DD}"/>
              </a:ext>
            </a:extLst>
          </p:cNvPr>
          <p:cNvSpPr>
            <a:spLocks noGrp="1"/>
          </p:cNvSpPr>
          <p:nvPr>
            <p:ph type="title"/>
          </p:nvPr>
        </p:nvSpPr>
        <p:spPr>
          <a:xfrm>
            <a:off x="2231136" y="145985"/>
            <a:ext cx="7729728" cy="1188720"/>
          </a:xfrm>
        </p:spPr>
        <p:txBody>
          <a:bodyPr/>
          <a:lstStyle/>
          <a:p>
            <a:r>
              <a:rPr lang="en-IT" dirty="0"/>
              <a:t>RANGE 25% - 50% </a:t>
            </a:r>
          </a:p>
        </p:txBody>
      </p:sp>
      <p:sp>
        <p:nvSpPr>
          <p:cNvPr id="3" name="Content Placeholder 2">
            <a:extLst>
              <a:ext uri="{FF2B5EF4-FFF2-40B4-BE49-F238E27FC236}">
                <a16:creationId xmlns:a16="http://schemas.microsoft.com/office/drawing/2014/main" id="{F80B2709-5FF7-D01F-26F4-EF5C3CB0225F}"/>
              </a:ext>
            </a:extLst>
          </p:cNvPr>
          <p:cNvSpPr>
            <a:spLocks noGrp="1"/>
          </p:cNvSpPr>
          <p:nvPr>
            <p:ph idx="1"/>
          </p:nvPr>
        </p:nvSpPr>
        <p:spPr>
          <a:xfrm>
            <a:off x="6096000" y="1818151"/>
            <a:ext cx="4697748" cy="706289"/>
          </a:xfrm>
        </p:spPr>
        <p:txBody>
          <a:bodyPr>
            <a:normAutofit/>
          </a:bodyPr>
          <a:lstStyle/>
          <a:p>
            <a:r>
              <a:rPr lang="en-IT" sz="1600" dirty="0"/>
              <a:t>Il numero medio di punti utilizzati per il fit  nella regione di bulk è: </a:t>
            </a:r>
          </a:p>
        </p:txBody>
      </p:sp>
      <p:sp>
        <p:nvSpPr>
          <p:cNvPr id="7" name="TextBox 6">
            <a:extLst>
              <a:ext uri="{FF2B5EF4-FFF2-40B4-BE49-F238E27FC236}">
                <a16:creationId xmlns:a16="http://schemas.microsoft.com/office/drawing/2014/main" id="{819C2BE9-60F7-091D-E727-1B3FDCB94E73}"/>
              </a:ext>
            </a:extLst>
          </p:cNvPr>
          <p:cNvSpPr txBox="1"/>
          <p:nvPr/>
        </p:nvSpPr>
        <p:spPr>
          <a:xfrm>
            <a:off x="6360914" y="2427914"/>
            <a:ext cx="1021433" cy="369332"/>
          </a:xfrm>
          <a:prstGeom prst="rect">
            <a:avLst/>
          </a:prstGeom>
          <a:noFill/>
        </p:spPr>
        <p:txBody>
          <a:bodyPr wrap="none" rtlCol="0">
            <a:spAutoFit/>
          </a:bodyPr>
          <a:lstStyle/>
          <a:p>
            <a:r>
              <a:rPr lang="en-IT" b="1" dirty="0"/>
              <a:t>N= 9.24</a:t>
            </a:r>
          </a:p>
        </p:txBody>
      </p:sp>
      <p:sp>
        <p:nvSpPr>
          <p:cNvPr id="8" name="TextBox 7">
            <a:extLst>
              <a:ext uri="{FF2B5EF4-FFF2-40B4-BE49-F238E27FC236}">
                <a16:creationId xmlns:a16="http://schemas.microsoft.com/office/drawing/2014/main" id="{C4745985-8FA8-D832-49CA-CF02436F39A7}"/>
              </a:ext>
            </a:extLst>
          </p:cNvPr>
          <p:cNvSpPr txBox="1"/>
          <p:nvPr/>
        </p:nvSpPr>
        <p:spPr>
          <a:xfrm>
            <a:off x="7912173" y="2452839"/>
            <a:ext cx="3052439" cy="307777"/>
          </a:xfrm>
          <a:prstGeom prst="rect">
            <a:avLst/>
          </a:prstGeom>
          <a:noFill/>
        </p:spPr>
        <p:txBody>
          <a:bodyPr wrap="none" rtlCol="0">
            <a:spAutoFit/>
          </a:bodyPr>
          <a:lstStyle/>
          <a:p>
            <a:r>
              <a:rPr lang="en-IT" sz="1400" dirty="0"/>
              <a:t>con un minimo di 8 e un massimo di 11</a:t>
            </a:r>
          </a:p>
        </p:txBody>
      </p:sp>
      <p:sp>
        <p:nvSpPr>
          <p:cNvPr id="10" name="Content Placeholder 2">
            <a:extLst>
              <a:ext uri="{FF2B5EF4-FFF2-40B4-BE49-F238E27FC236}">
                <a16:creationId xmlns:a16="http://schemas.microsoft.com/office/drawing/2014/main" id="{750986A3-FCBB-5EB1-263D-D3B37BA453F1}"/>
              </a:ext>
            </a:extLst>
          </p:cNvPr>
          <p:cNvSpPr txBox="1">
            <a:spLocks/>
          </p:cNvSpPr>
          <p:nvPr/>
        </p:nvSpPr>
        <p:spPr>
          <a:xfrm>
            <a:off x="6096000" y="3040657"/>
            <a:ext cx="4697748" cy="51214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T" dirty="0"/>
              <a:t>Chi^2 ridotto medio:</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906061F-8D52-F04A-AFB2-77247626D2CD}"/>
                  </a:ext>
                </a:extLst>
              </p:cNvPr>
              <p:cNvSpPr txBox="1"/>
              <p:nvPr/>
            </p:nvSpPr>
            <p:spPr>
              <a:xfrm>
                <a:off x="6360914" y="3431073"/>
                <a:ext cx="1853392" cy="369332"/>
              </a:xfrm>
              <a:prstGeom prst="rect">
                <a:avLst/>
              </a:prstGeom>
              <a:noFill/>
            </p:spPr>
            <p:txBody>
              <a:bodyPr wrap="none" rtlCol="0">
                <a:spAutoFit/>
              </a:bodyPr>
              <a:lstStyle/>
              <a:p>
                <a14:m>
                  <m:oMath xmlns:m="http://schemas.openxmlformats.org/officeDocument/2006/math">
                    <m:r>
                      <a:rPr lang="en-IT" b="1" i="1">
                        <a:latin typeface="Cambria Math" panose="02040503050406030204" pitchFamily="18" charset="0"/>
                        <a:ea typeface="Cambria Math" panose="02040503050406030204" pitchFamily="18" charset="0"/>
                      </a:rPr>
                      <m:t>𝝌</m:t>
                    </m:r>
                    <m:r>
                      <a:rPr lang="it-IT" b="1" i="1" baseline="30000">
                        <a:latin typeface="Cambria Math" panose="02040503050406030204" pitchFamily="18" charset="0"/>
                        <a:ea typeface="Cambria Math" panose="02040503050406030204" pitchFamily="18" charset="0"/>
                      </a:rPr>
                      <m:t>𝟐</m:t>
                    </m:r>
                  </m:oMath>
                </a14:m>
                <a:r>
                  <a:rPr lang="en-IT" b="1" dirty="0"/>
                  <a:t>_mean = 8.29</a:t>
                </a:r>
              </a:p>
            </p:txBody>
          </p:sp>
        </mc:Choice>
        <mc:Fallback xmlns="">
          <p:sp>
            <p:nvSpPr>
              <p:cNvPr id="11" name="TextBox 10">
                <a:extLst>
                  <a:ext uri="{FF2B5EF4-FFF2-40B4-BE49-F238E27FC236}">
                    <a16:creationId xmlns:a16="http://schemas.microsoft.com/office/drawing/2014/main" id="{2906061F-8D52-F04A-AFB2-77247626D2CD}"/>
                  </a:ext>
                </a:extLst>
              </p:cNvPr>
              <p:cNvSpPr txBox="1">
                <a:spLocks noRot="1" noChangeAspect="1" noMove="1" noResize="1" noEditPoints="1" noAdjustHandles="1" noChangeArrowheads="1" noChangeShapeType="1" noTextEdit="1"/>
              </p:cNvSpPr>
              <p:nvPr/>
            </p:nvSpPr>
            <p:spPr>
              <a:xfrm>
                <a:off x="6360914" y="3431073"/>
                <a:ext cx="1853392" cy="369332"/>
              </a:xfrm>
              <a:prstGeom prst="rect">
                <a:avLst/>
              </a:prstGeom>
              <a:blipFill>
                <a:blip r:embed="rId2"/>
                <a:stretch>
                  <a:fillRect t="-10000" r="-2041" b="-23333"/>
                </a:stretch>
              </a:blipFill>
            </p:spPr>
            <p:txBody>
              <a:bodyPr/>
              <a:lstStyle/>
              <a:p>
                <a:r>
                  <a:rPr lang="en-IT">
                    <a:noFill/>
                  </a:rPr>
                  <a:t> </a:t>
                </a:r>
              </a:p>
            </p:txBody>
          </p:sp>
        </mc:Fallback>
      </mc:AlternateContent>
      <p:sp>
        <p:nvSpPr>
          <p:cNvPr id="12" name="TextBox 11">
            <a:extLst>
              <a:ext uri="{FF2B5EF4-FFF2-40B4-BE49-F238E27FC236}">
                <a16:creationId xmlns:a16="http://schemas.microsoft.com/office/drawing/2014/main" id="{C3FEC683-890C-D3BA-6537-1E543C0EEC63}"/>
              </a:ext>
            </a:extLst>
          </p:cNvPr>
          <p:cNvSpPr txBox="1"/>
          <p:nvPr/>
        </p:nvSpPr>
        <p:spPr>
          <a:xfrm>
            <a:off x="8752182" y="3307791"/>
            <a:ext cx="4424860" cy="584775"/>
          </a:xfrm>
          <a:prstGeom prst="rect">
            <a:avLst/>
          </a:prstGeom>
          <a:noFill/>
        </p:spPr>
        <p:txBody>
          <a:bodyPr wrap="square" rtlCol="0">
            <a:spAutoFit/>
          </a:bodyPr>
          <a:lstStyle/>
          <a:p>
            <a:r>
              <a:rPr lang="en-IT" sz="1600" dirty="0"/>
              <a:t> - min = 1.71</a:t>
            </a:r>
          </a:p>
          <a:p>
            <a:r>
              <a:rPr lang="en-IT" sz="1600" dirty="0"/>
              <a:t> - max = 22.65</a:t>
            </a:r>
          </a:p>
        </p:txBody>
      </p:sp>
      <p:sp>
        <p:nvSpPr>
          <p:cNvPr id="15" name="Content Placeholder 2">
            <a:extLst>
              <a:ext uri="{FF2B5EF4-FFF2-40B4-BE49-F238E27FC236}">
                <a16:creationId xmlns:a16="http://schemas.microsoft.com/office/drawing/2014/main" id="{554D5FBC-3B5D-9D95-F0C6-E893E7C03200}"/>
              </a:ext>
            </a:extLst>
          </p:cNvPr>
          <p:cNvSpPr txBox="1">
            <a:spLocks/>
          </p:cNvSpPr>
          <p:nvPr/>
        </p:nvSpPr>
        <p:spPr>
          <a:xfrm>
            <a:off x="6360914" y="4190821"/>
            <a:ext cx="4697748" cy="51214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latinLnBrk="1">
              <a:buNone/>
            </a:pPr>
            <a:endParaRPr lang="en-IT" dirty="0"/>
          </a:p>
        </p:txBody>
      </p:sp>
      <p:sp>
        <p:nvSpPr>
          <p:cNvPr id="16" name="Content Placeholder 2">
            <a:extLst>
              <a:ext uri="{FF2B5EF4-FFF2-40B4-BE49-F238E27FC236}">
                <a16:creationId xmlns:a16="http://schemas.microsoft.com/office/drawing/2014/main" id="{5E391DE3-3BB3-F8B4-523C-4E94B9859749}"/>
              </a:ext>
            </a:extLst>
          </p:cNvPr>
          <p:cNvSpPr txBox="1">
            <a:spLocks/>
          </p:cNvSpPr>
          <p:nvPr/>
        </p:nvSpPr>
        <p:spPr>
          <a:xfrm>
            <a:off x="6096000" y="3875412"/>
            <a:ext cx="4697748" cy="93478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latinLnBrk="1">
              <a:buNone/>
            </a:pPr>
            <a:endParaRPr lang="en-IT" dirty="0"/>
          </a:p>
          <a:p>
            <a:pPr latinLnBrk="1"/>
            <a:r>
              <a:rPr lang="en-IT" dirty="0"/>
              <a:t>Radice errore quadratico medio:</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F89C9D4-9D3C-C5E8-1E43-CAC4793ABEE0}"/>
                  </a:ext>
                </a:extLst>
              </p:cNvPr>
              <p:cNvSpPr txBox="1"/>
              <p:nvPr/>
            </p:nvSpPr>
            <p:spPr>
              <a:xfrm>
                <a:off x="6314935" y="4662205"/>
                <a:ext cx="3664786" cy="646331"/>
              </a:xfrm>
              <a:prstGeom prst="rect">
                <a:avLst/>
              </a:prstGeom>
              <a:noFill/>
            </p:spPr>
            <p:txBody>
              <a:bodyPr wrap="none" rtlCol="0">
                <a:spAutoFit/>
              </a:bodyPr>
              <a:lstStyle/>
              <a:p>
                <a:pPr latinLnBrk="1"/>
                <a:r>
                  <a:rPr lang="en-IT" b="1" dirty="0"/>
                  <a:t>RMSE medio = 0.245</a:t>
                </a:r>
                <a14:m>
                  <m:oMath xmlns:m="http://schemas.openxmlformats.org/officeDocument/2006/math">
                    <m:r>
                      <a:rPr lang="en-IT" b="1" i="1" smtClean="0">
                        <a:latin typeface="Cambria Math" panose="02040503050406030204" pitchFamily="18" charset="0"/>
                        <a:ea typeface="Cambria Math" panose="02040503050406030204" pitchFamily="18" charset="0"/>
                      </a:rPr>
                      <m:t>∙</m:t>
                    </m:r>
                    <m:r>
                      <a:rPr lang="it-IT" b="1" i="1" smtClean="0">
                        <a:latin typeface="Cambria Math" panose="02040503050406030204" pitchFamily="18" charset="0"/>
                        <a:ea typeface="Cambria Math" panose="02040503050406030204" pitchFamily="18" charset="0"/>
                      </a:rPr>
                      <m:t>𝟏𝟎</m:t>
                    </m:r>
                    <m:r>
                      <a:rPr lang="it-IT" b="1" i="1" baseline="30000" smtClean="0">
                        <a:latin typeface="Cambria Math" panose="02040503050406030204" pitchFamily="18" charset="0"/>
                        <a:ea typeface="Cambria Math" panose="02040503050406030204" pitchFamily="18" charset="0"/>
                      </a:rPr>
                      <m:t>𝟐𝟏</m:t>
                    </m:r>
                  </m:oMath>
                </a14:m>
                <a:r>
                  <a:rPr lang="en-IT" b="1" dirty="0"/>
                  <a:t> [1/F</a:t>
                </a:r>
                <a:r>
                  <a:rPr lang="en-IT" b="1" baseline="30000" dirty="0"/>
                  <a:t>2</a:t>
                </a:r>
                <a:r>
                  <a:rPr lang="en-IT" b="1" dirty="0"/>
                  <a:t>]</a:t>
                </a:r>
                <a:endParaRPr lang="en-IT" dirty="0"/>
              </a:p>
              <a:p>
                <a:endParaRPr lang="en-IT" dirty="0"/>
              </a:p>
            </p:txBody>
          </p:sp>
        </mc:Choice>
        <mc:Fallback xmlns="">
          <p:sp>
            <p:nvSpPr>
              <p:cNvPr id="17" name="TextBox 16">
                <a:extLst>
                  <a:ext uri="{FF2B5EF4-FFF2-40B4-BE49-F238E27FC236}">
                    <a16:creationId xmlns:a16="http://schemas.microsoft.com/office/drawing/2014/main" id="{3F89C9D4-9D3C-C5E8-1E43-CAC4793ABEE0}"/>
                  </a:ext>
                </a:extLst>
              </p:cNvPr>
              <p:cNvSpPr txBox="1">
                <a:spLocks noRot="1" noChangeAspect="1" noMove="1" noResize="1" noEditPoints="1" noAdjustHandles="1" noChangeArrowheads="1" noChangeShapeType="1" noTextEdit="1"/>
              </p:cNvSpPr>
              <p:nvPr/>
            </p:nvSpPr>
            <p:spPr>
              <a:xfrm>
                <a:off x="6314935" y="4662205"/>
                <a:ext cx="3664786" cy="646331"/>
              </a:xfrm>
              <a:prstGeom prst="rect">
                <a:avLst/>
              </a:prstGeom>
              <a:blipFill>
                <a:blip r:embed="rId3"/>
                <a:stretch>
                  <a:fillRect l="-1730" t="-5769" r="-692"/>
                </a:stretch>
              </a:blipFill>
            </p:spPr>
            <p:txBody>
              <a:bodyPr/>
              <a:lstStyle/>
              <a:p>
                <a:r>
                  <a:rPr lang="en-IT">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E7B7B59-47C6-D3E2-D35B-9355B11BD4A2}"/>
                  </a:ext>
                </a:extLst>
              </p:cNvPr>
              <p:cNvSpPr txBox="1"/>
              <p:nvPr/>
            </p:nvSpPr>
            <p:spPr>
              <a:xfrm>
                <a:off x="6314935" y="5125609"/>
                <a:ext cx="3356110" cy="646331"/>
              </a:xfrm>
              <a:prstGeom prst="rect">
                <a:avLst/>
              </a:prstGeom>
              <a:noFill/>
            </p:spPr>
            <p:txBody>
              <a:bodyPr wrap="square">
                <a:spAutoFit/>
              </a:bodyPr>
              <a:lstStyle/>
              <a:p>
                <a:pPr latinLnBrk="1"/>
                <a:r>
                  <a:rPr lang="en-IT" sz="1800" dirty="0"/>
                  <a:t>min = 0.116 </a:t>
                </a:r>
                <a14:m>
                  <m:oMath xmlns:m="http://schemas.openxmlformats.org/officeDocument/2006/math">
                    <m:r>
                      <a:rPr lang="en-IT" sz="1800" b="0" i="1" smtClean="0">
                        <a:latin typeface="Cambria Math" panose="02040503050406030204" pitchFamily="18" charset="0"/>
                        <a:ea typeface="Cambria Math" panose="02040503050406030204" pitchFamily="18" charset="0"/>
                      </a:rPr>
                      <m:t>∙</m:t>
                    </m:r>
                    <m:r>
                      <a:rPr lang="it-IT" sz="1800" b="0" i="1" smtClean="0">
                        <a:latin typeface="Cambria Math" panose="02040503050406030204" pitchFamily="18" charset="0"/>
                        <a:ea typeface="Cambria Math" panose="02040503050406030204" pitchFamily="18" charset="0"/>
                      </a:rPr>
                      <m:t>10</m:t>
                    </m:r>
                    <m:r>
                      <a:rPr lang="it-IT" sz="1800" b="0" i="1" baseline="30000" smtClean="0">
                        <a:latin typeface="Cambria Math" panose="02040503050406030204" pitchFamily="18" charset="0"/>
                        <a:ea typeface="Cambria Math" panose="02040503050406030204" pitchFamily="18" charset="0"/>
                      </a:rPr>
                      <m:t>21</m:t>
                    </m:r>
                  </m:oMath>
                </a14:m>
                <a:r>
                  <a:rPr lang="en-IT" sz="1800" dirty="0"/>
                  <a:t> [1/F</a:t>
                </a:r>
                <a:r>
                  <a:rPr lang="en-IT" sz="1800" baseline="30000" dirty="0"/>
                  <a:t>2</a:t>
                </a:r>
                <a:r>
                  <a:rPr lang="en-IT" sz="1800" dirty="0"/>
                  <a:t>]</a:t>
                </a:r>
              </a:p>
              <a:p>
                <a:pPr latinLnBrk="1"/>
                <a:r>
                  <a:rPr lang="en-IT" sz="1800" dirty="0"/>
                  <a:t>max = 0.4</a:t>
                </a:r>
                <a:r>
                  <a:rPr lang="en-IT" dirty="0"/>
                  <a:t>16</a:t>
                </a:r>
                <a14:m>
                  <m:oMath xmlns:m="http://schemas.openxmlformats.org/officeDocument/2006/math">
                    <m:r>
                      <a:rPr lang="en-IT" sz="1800" b="0" i="1" smtClean="0">
                        <a:latin typeface="Cambria Math" panose="02040503050406030204" pitchFamily="18" charset="0"/>
                        <a:ea typeface="Cambria Math" panose="02040503050406030204" pitchFamily="18" charset="0"/>
                      </a:rPr>
                      <m:t>∙</m:t>
                    </m:r>
                    <m:r>
                      <a:rPr lang="it-IT" sz="1800" b="0" i="1" smtClean="0">
                        <a:latin typeface="Cambria Math" panose="02040503050406030204" pitchFamily="18" charset="0"/>
                        <a:ea typeface="Cambria Math" panose="02040503050406030204" pitchFamily="18" charset="0"/>
                      </a:rPr>
                      <m:t>10</m:t>
                    </m:r>
                    <m:r>
                      <a:rPr lang="it-IT" sz="1800" b="0" i="1" baseline="30000" smtClean="0">
                        <a:latin typeface="Cambria Math" panose="02040503050406030204" pitchFamily="18" charset="0"/>
                        <a:ea typeface="Cambria Math" panose="02040503050406030204" pitchFamily="18" charset="0"/>
                      </a:rPr>
                      <m:t>21</m:t>
                    </m:r>
                  </m:oMath>
                </a14:m>
                <a:r>
                  <a:rPr lang="en-IT" sz="1800" dirty="0"/>
                  <a:t> [1/F</a:t>
                </a:r>
                <a:r>
                  <a:rPr lang="en-IT" sz="1800" baseline="30000" dirty="0"/>
                  <a:t>2</a:t>
                </a:r>
                <a:r>
                  <a:rPr lang="en-IT" sz="1800" dirty="0"/>
                  <a:t>]</a:t>
                </a:r>
              </a:p>
            </p:txBody>
          </p:sp>
        </mc:Choice>
        <mc:Fallback xmlns="">
          <p:sp>
            <p:nvSpPr>
              <p:cNvPr id="19" name="TextBox 18">
                <a:extLst>
                  <a:ext uri="{FF2B5EF4-FFF2-40B4-BE49-F238E27FC236}">
                    <a16:creationId xmlns:a16="http://schemas.microsoft.com/office/drawing/2014/main" id="{5E7B7B59-47C6-D3E2-D35B-9355B11BD4A2}"/>
                  </a:ext>
                </a:extLst>
              </p:cNvPr>
              <p:cNvSpPr txBox="1">
                <a:spLocks noRot="1" noChangeAspect="1" noMove="1" noResize="1" noEditPoints="1" noAdjustHandles="1" noChangeArrowheads="1" noChangeShapeType="1" noTextEdit="1"/>
              </p:cNvSpPr>
              <p:nvPr/>
            </p:nvSpPr>
            <p:spPr>
              <a:xfrm>
                <a:off x="6314935" y="5125609"/>
                <a:ext cx="3356110" cy="646331"/>
              </a:xfrm>
              <a:prstGeom prst="rect">
                <a:avLst/>
              </a:prstGeom>
              <a:blipFill>
                <a:blip r:embed="rId4"/>
                <a:stretch>
                  <a:fillRect l="-1887" t="-3846" b="-13462"/>
                </a:stretch>
              </a:blipFill>
            </p:spPr>
            <p:txBody>
              <a:bodyPr/>
              <a:lstStyle/>
              <a:p>
                <a:r>
                  <a:rPr lang="en-IT">
                    <a:noFill/>
                  </a:rPr>
                  <a:t> </a:t>
                </a:r>
              </a:p>
            </p:txBody>
          </p:sp>
        </mc:Fallback>
      </mc:AlternateContent>
      <p:cxnSp>
        <p:nvCxnSpPr>
          <p:cNvPr id="21" name="Straight Connector 20">
            <a:extLst>
              <a:ext uri="{FF2B5EF4-FFF2-40B4-BE49-F238E27FC236}">
                <a16:creationId xmlns:a16="http://schemas.microsoft.com/office/drawing/2014/main" id="{FCABFE90-5264-D7BA-6814-869AFD06D6DF}"/>
              </a:ext>
            </a:extLst>
          </p:cNvPr>
          <p:cNvCxnSpPr/>
          <p:nvPr/>
        </p:nvCxnSpPr>
        <p:spPr>
          <a:xfrm>
            <a:off x="6376592" y="2907169"/>
            <a:ext cx="45880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CC2FE3-46B4-CBAC-F1AE-6D5DF07F9CD4}"/>
              </a:ext>
            </a:extLst>
          </p:cNvPr>
          <p:cNvCxnSpPr/>
          <p:nvPr/>
        </p:nvCxnSpPr>
        <p:spPr>
          <a:xfrm>
            <a:off x="6376592" y="4098515"/>
            <a:ext cx="45880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D9FDF1B2-0CE2-7BB8-16B7-AC645FF31CE2}"/>
              </a:ext>
            </a:extLst>
          </p:cNvPr>
          <p:cNvPicPr>
            <a:picLocks noChangeAspect="1"/>
          </p:cNvPicPr>
          <p:nvPr/>
        </p:nvPicPr>
        <p:blipFill>
          <a:blip r:embed="rId5"/>
          <a:stretch>
            <a:fillRect/>
          </a:stretch>
        </p:blipFill>
        <p:spPr>
          <a:xfrm>
            <a:off x="358815" y="1616969"/>
            <a:ext cx="5566321" cy="4332197"/>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7B63365-D669-9343-DF7D-0D4EF405960B}"/>
                  </a:ext>
                </a:extLst>
              </p:cNvPr>
              <p:cNvSpPr txBox="1"/>
              <p:nvPr/>
            </p:nvSpPr>
            <p:spPr>
              <a:xfrm>
                <a:off x="499795" y="6340929"/>
                <a:ext cx="11192410" cy="338554"/>
              </a:xfrm>
              <a:prstGeom prst="rect">
                <a:avLst/>
              </a:prstGeom>
              <a:noFill/>
            </p:spPr>
            <p:txBody>
              <a:bodyPr wrap="square" rtlCol="0">
                <a:spAutoFit/>
              </a:bodyPr>
              <a:lstStyle/>
              <a:p>
                <a:r>
                  <a:rPr lang="en-GB" sz="1600" dirty="0"/>
                  <a:t>N</a:t>
                </a:r>
                <a:r>
                  <a:rPr lang="en-IT" sz="1600" dirty="0"/>
                  <a:t>ota: il </a:t>
                </a:r>
                <a14:m>
                  <m:oMath xmlns:m="http://schemas.openxmlformats.org/officeDocument/2006/math">
                    <m:r>
                      <a:rPr lang="en-IT" sz="1600" b="0" i="1">
                        <a:latin typeface="Cambria Math" panose="02040503050406030204" pitchFamily="18" charset="0"/>
                        <a:ea typeface="Cambria Math" panose="02040503050406030204" pitchFamily="18" charset="0"/>
                      </a:rPr>
                      <m:t>𝜒</m:t>
                    </m:r>
                    <m:r>
                      <a:rPr lang="it-IT" sz="1600" b="0" i="1" baseline="30000">
                        <a:latin typeface="Cambria Math" panose="02040503050406030204" pitchFamily="18" charset="0"/>
                        <a:ea typeface="Cambria Math" panose="02040503050406030204" pitchFamily="18" charset="0"/>
                      </a:rPr>
                      <m:t>2</m:t>
                    </m:r>
                    <m:r>
                      <a:rPr lang="it-IT" sz="1600" b="0" i="1" baseline="30000" smtClean="0">
                        <a:latin typeface="Cambria Math" panose="02040503050406030204" pitchFamily="18" charset="0"/>
                        <a:ea typeface="Cambria Math" panose="02040503050406030204" pitchFamily="18" charset="0"/>
                      </a:rPr>
                      <m:t> </m:t>
                    </m:r>
                  </m:oMath>
                </a14:m>
                <a:r>
                  <a:rPr lang="en-IT" sz="1600" dirty="0"/>
                  <a:t>mostrato è scalato di un fattore 10</a:t>
                </a:r>
                <a:r>
                  <a:rPr lang="en-IT" sz="1600" baseline="30000" dirty="0"/>
                  <a:t>40</a:t>
                </a:r>
                <a:r>
                  <a:rPr lang="en-IT" sz="1600" dirty="0"/>
                  <a:t> . Esso non ha significato statistico in quanto non si è espresso l’errore di V bias e 1/C</a:t>
                </a:r>
                <a:r>
                  <a:rPr lang="en-IT" sz="1600" baseline="30000" dirty="0"/>
                  <a:t>2</a:t>
                </a:r>
              </a:p>
            </p:txBody>
          </p:sp>
        </mc:Choice>
        <mc:Fallback xmlns="">
          <p:sp>
            <p:nvSpPr>
              <p:cNvPr id="6" name="TextBox 5">
                <a:extLst>
                  <a:ext uri="{FF2B5EF4-FFF2-40B4-BE49-F238E27FC236}">
                    <a16:creationId xmlns:a16="http://schemas.microsoft.com/office/drawing/2014/main" id="{E7B63365-D669-9343-DF7D-0D4EF405960B}"/>
                  </a:ext>
                </a:extLst>
              </p:cNvPr>
              <p:cNvSpPr txBox="1">
                <a:spLocks noRot="1" noChangeAspect="1" noMove="1" noResize="1" noEditPoints="1" noAdjustHandles="1" noChangeArrowheads="1" noChangeShapeType="1" noTextEdit="1"/>
              </p:cNvSpPr>
              <p:nvPr/>
            </p:nvSpPr>
            <p:spPr>
              <a:xfrm>
                <a:off x="499795" y="6340929"/>
                <a:ext cx="11192410" cy="338554"/>
              </a:xfrm>
              <a:prstGeom prst="rect">
                <a:avLst/>
              </a:prstGeom>
              <a:blipFill>
                <a:blip r:embed="rId6"/>
                <a:stretch>
                  <a:fillRect l="-340" t="-10714" b="-17857"/>
                </a:stretch>
              </a:blipFill>
            </p:spPr>
            <p:txBody>
              <a:bodyPr/>
              <a:lstStyle/>
              <a:p>
                <a:r>
                  <a:rPr lang="en-IT">
                    <a:noFill/>
                  </a:rPr>
                  <a:t> </a:t>
                </a:r>
              </a:p>
            </p:txBody>
          </p:sp>
        </mc:Fallback>
      </mc:AlternateContent>
    </p:spTree>
    <p:extLst>
      <p:ext uri="{BB962C8B-B14F-4D97-AF65-F5344CB8AC3E}">
        <p14:creationId xmlns:p14="http://schemas.microsoft.com/office/powerpoint/2010/main" val="3688649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1C0DF-E5D3-D9B2-2AF7-548CC1C71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5B35F0-3DF7-94CE-06A6-31917D04F8B6}"/>
              </a:ext>
            </a:extLst>
          </p:cNvPr>
          <p:cNvSpPr>
            <a:spLocks noGrp="1"/>
          </p:cNvSpPr>
          <p:nvPr>
            <p:ph type="title"/>
          </p:nvPr>
        </p:nvSpPr>
        <p:spPr>
          <a:xfrm>
            <a:off x="2231136" y="145985"/>
            <a:ext cx="7729728" cy="1188720"/>
          </a:xfrm>
        </p:spPr>
        <p:txBody>
          <a:bodyPr/>
          <a:lstStyle/>
          <a:p>
            <a:r>
              <a:rPr lang="en-IT" dirty="0"/>
              <a:t>RANGE 40% - 65% </a:t>
            </a:r>
          </a:p>
        </p:txBody>
      </p:sp>
      <p:sp>
        <p:nvSpPr>
          <p:cNvPr id="3" name="Content Placeholder 2">
            <a:extLst>
              <a:ext uri="{FF2B5EF4-FFF2-40B4-BE49-F238E27FC236}">
                <a16:creationId xmlns:a16="http://schemas.microsoft.com/office/drawing/2014/main" id="{A99F5C10-193B-C81E-4CFB-1029C83B517D}"/>
              </a:ext>
            </a:extLst>
          </p:cNvPr>
          <p:cNvSpPr>
            <a:spLocks noGrp="1"/>
          </p:cNvSpPr>
          <p:nvPr>
            <p:ph idx="1"/>
          </p:nvPr>
        </p:nvSpPr>
        <p:spPr>
          <a:xfrm>
            <a:off x="6096000" y="1818151"/>
            <a:ext cx="4697748" cy="706289"/>
          </a:xfrm>
        </p:spPr>
        <p:txBody>
          <a:bodyPr>
            <a:normAutofit/>
          </a:bodyPr>
          <a:lstStyle/>
          <a:p>
            <a:r>
              <a:rPr lang="en-IT" sz="1600" dirty="0"/>
              <a:t>Il numero medio di punti utilizzati per il fit  nella regione di bulk è: </a:t>
            </a:r>
          </a:p>
        </p:txBody>
      </p:sp>
      <p:sp>
        <p:nvSpPr>
          <p:cNvPr id="7" name="TextBox 6">
            <a:extLst>
              <a:ext uri="{FF2B5EF4-FFF2-40B4-BE49-F238E27FC236}">
                <a16:creationId xmlns:a16="http://schemas.microsoft.com/office/drawing/2014/main" id="{488E83A7-9F34-375E-B509-02B76D22D19B}"/>
              </a:ext>
            </a:extLst>
          </p:cNvPr>
          <p:cNvSpPr txBox="1"/>
          <p:nvPr/>
        </p:nvSpPr>
        <p:spPr>
          <a:xfrm>
            <a:off x="6360914" y="2427914"/>
            <a:ext cx="1189749" cy="400110"/>
          </a:xfrm>
          <a:prstGeom prst="rect">
            <a:avLst/>
          </a:prstGeom>
          <a:noFill/>
        </p:spPr>
        <p:txBody>
          <a:bodyPr wrap="none" rtlCol="0">
            <a:spAutoFit/>
          </a:bodyPr>
          <a:lstStyle/>
          <a:p>
            <a:r>
              <a:rPr lang="en-IT" sz="2000" b="1" dirty="0"/>
              <a:t>N= </a:t>
            </a:r>
            <a:r>
              <a:rPr lang="en-IT" b="1" dirty="0"/>
              <a:t>10.04</a:t>
            </a:r>
          </a:p>
        </p:txBody>
      </p:sp>
      <p:sp>
        <p:nvSpPr>
          <p:cNvPr id="8" name="TextBox 7">
            <a:extLst>
              <a:ext uri="{FF2B5EF4-FFF2-40B4-BE49-F238E27FC236}">
                <a16:creationId xmlns:a16="http://schemas.microsoft.com/office/drawing/2014/main" id="{FEE5FCD4-5F1B-8695-1081-78966BDA5F2E}"/>
              </a:ext>
            </a:extLst>
          </p:cNvPr>
          <p:cNvSpPr txBox="1"/>
          <p:nvPr/>
        </p:nvSpPr>
        <p:spPr>
          <a:xfrm>
            <a:off x="7912173" y="2452839"/>
            <a:ext cx="3052439" cy="307777"/>
          </a:xfrm>
          <a:prstGeom prst="rect">
            <a:avLst/>
          </a:prstGeom>
          <a:noFill/>
        </p:spPr>
        <p:txBody>
          <a:bodyPr wrap="none" rtlCol="0">
            <a:spAutoFit/>
          </a:bodyPr>
          <a:lstStyle/>
          <a:p>
            <a:r>
              <a:rPr lang="en-IT" sz="1400" dirty="0"/>
              <a:t>con un minimo di 8 e un massimo di 12</a:t>
            </a:r>
          </a:p>
        </p:txBody>
      </p:sp>
      <p:sp>
        <p:nvSpPr>
          <p:cNvPr id="10" name="Content Placeholder 2">
            <a:extLst>
              <a:ext uri="{FF2B5EF4-FFF2-40B4-BE49-F238E27FC236}">
                <a16:creationId xmlns:a16="http://schemas.microsoft.com/office/drawing/2014/main" id="{AF2F5A36-64F2-2C6A-03C8-D4928C216629}"/>
              </a:ext>
            </a:extLst>
          </p:cNvPr>
          <p:cNvSpPr txBox="1">
            <a:spLocks/>
          </p:cNvSpPr>
          <p:nvPr/>
        </p:nvSpPr>
        <p:spPr>
          <a:xfrm>
            <a:off x="6096000" y="3040657"/>
            <a:ext cx="4697748" cy="51214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T" dirty="0"/>
              <a:t>Chi^2 ridotto medio:</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922B480-A7D9-1A86-9A12-48BCED965ACC}"/>
                  </a:ext>
                </a:extLst>
              </p:cNvPr>
              <p:cNvSpPr txBox="1"/>
              <p:nvPr/>
            </p:nvSpPr>
            <p:spPr>
              <a:xfrm>
                <a:off x="6360914" y="3431073"/>
                <a:ext cx="1853392" cy="369332"/>
              </a:xfrm>
              <a:prstGeom prst="rect">
                <a:avLst/>
              </a:prstGeom>
              <a:noFill/>
            </p:spPr>
            <p:txBody>
              <a:bodyPr wrap="none" rtlCol="0">
                <a:spAutoFit/>
              </a:bodyPr>
              <a:lstStyle/>
              <a:p>
                <a14:m>
                  <m:oMath xmlns:m="http://schemas.openxmlformats.org/officeDocument/2006/math">
                    <m:r>
                      <a:rPr lang="en-IT" b="1" i="1">
                        <a:latin typeface="Cambria Math" panose="02040503050406030204" pitchFamily="18" charset="0"/>
                        <a:ea typeface="Cambria Math" panose="02040503050406030204" pitchFamily="18" charset="0"/>
                      </a:rPr>
                      <m:t>𝝌</m:t>
                    </m:r>
                    <m:r>
                      <a:rPr lang="it-IT" b="1" i="1" baseline="30000">
                        <a:latin typeface="Cambria Math" panose="02040503050406030204" pitchFamily="18" charset="0"/>
                        <a:ea typeface="Cambria Math" panose="02040503050406030204" pitchFamily="18" charset="0"/>
                      </a:rPr>
                      <m:t>𝟐</m:t>
                    </m:r>
                  </m:oMath>
                </a14:m>
                <a:r>
                  <a:rPr lang="en-IT" b="1" dirty="0"/>
                  <a:t>_mean = 8.10</a:t>
                </a:r>
              </a:p>
            </p:txBody>
          </p:sp>
        </mc:Choice>
        <mc:Fallback xmlns="">
          <p:sp>
            <p:nvSpPr>
              <p:cNvPr id="11" name="TextBox 10">
                <a:extLst>
                  <a:ext uri="{FF2B5EF4-FFF2-40B4-BE49-F238E27FC236}">
                    <a16:creationId xmlns:a16="http://schemas.microsoft.com/office/drawing/2014/main" id="{3922B480-A7D9-1A86-9A12-48BCED965ACC}"/>
                  </a:ext>
                </a:extLst>
              </p:cNvPr>
              <p:cNvSpPr txBox="1">
                <a:spLocks noRot="1" noChangeAspect="1" noMove="1" noResize="1" noEditPoints="1" noAdjustHandles="1" noChangeArrowheads="1" noChangeShapeType="1" noTextEdit="1"/>
              </p:cNvSpPr>
              <p:nvPr/>
            </p:nvSpPr>
            <p:spPr>
              <a:xfrm>
                <a:off x="6360914" y="3431073"/>
                <a:ext cx="1853392" cy="369332"/>
              </a:xfrm>
              <a:prstGeom prst="rect">
                <a:avLst/>
              </a:prstGeom>
              <a:blipFill>
                <a:blip r:embed="rId2"/>
                <a:stretch>
                  <a:fillRect t="-10000" r="-2041" b="-23333"/>
                </a:stretch>
              </a:blipFill>
            </p:spPr>
            <p:txBody>
              <a:bodyPr/>
              <a:lstStyle/>
              <a:p>
                <a:r>
                  <a:rPr lang="en-IT">
                    <a:noFill/>
                  </a:rPr>
                  <a:t> </a:t>
                </a:r>
              </a:p>
            </p:txBody>
          </p:sp>
        </mc:Fallback>
      </mc:AlternateContent>
      <p:sp>
        <p:nvSpPr>
          <p:cNvPr id="12" name="TextBox 11">
            <a:extLst>
              <a:ext uri="{FF2B5EF4-FFF2-40B4-BE49-F238E27FC236}">
                <a16:creationId xmlns:a16="http://schemas.microsoft.com/office/drawing/2014/main" id="{7B513E7E-81CD-027B-2735-B9F09477AEA4}"/>
              </a:ext>
            </a:extLst>
          </p:cNvPr>
          <p:cNvSpPr txBox="1"/>
          <p:nvPr/>
        </p:nvSpPr>
        <p:spPr>
          <a:xfrm>
            <a:off x="8752182" y="3307791"/>
            <a:ext cx="4424860" cy="584775"/>
          </a:xfrm>
          <a:prstGeom prst="rect">
            <a:avLst/>
          </a:prstGeom>
          <a:noFill/>
        </p:spPr>
        <p:txBody>
          <a:bodyPr wrap="square" rtlCol="0">
            <a:spAutoFit/>
          </a:bodyPr>
          <a:lstStyle/>
          <a:p>
            <a:r>
              <a:rPr lang="en-IT" sz="1600" dirty="0"/>
              <a:t>- min = 0.43</a:t>
            </a:r>
          </a:p>
          <a:p>
            <a:r>
              <a:rPr lang="en-IT" sz="1600" dirty="0"/>
              <a:t> - max = 26.33</a:t>
            </a:r>
          </a:p>
        </p:txBody>
      </p:sp>
      <p:sp>
        <p:nvSpPr>
          <p:cNvPr id="15" name="Content Placeholder 2">
            <a:extLst>
              <a:ext uri="{FF2B5EF4-FFF2-40B4-BE49-F238E27FC236}">
                <a16:creationId xmlns:a16="http://schemas.microsoft.com/office/drawing/2014/main" id="{3D91A76D-7F25-5A81-F7E4-39AB871EEC98}"/>
              </a:ext>
            </a:extLst>
          </p:cNvPr>
          <p:cNvSpPr txBox="1">
            <a:spLocks/>
          </p:cNvSpPr>
          <p:nvPr/>
        </p:nvSpPr>
        <p:spPr>
          <a:xfrm>
            <a:off x="6360914" y="4190821"/>
            <a:ext cx="4697748" cy="51214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latinLnBrk="1">
              <a:buNone/>
            </a:pPr>
            <a:endParaRPr lang="en-IT" dirty="0"/>
          </a:p>
        </p:txBody>
      </p:sp>
      <p:sp>
        <p:nvSpPr>
          <p:cNvPr id="16" name="Content Placeholder 2">
            <a:extLst>
              <a:ext uri="{FF2B5EF4-FFF2-40B4-BE49-F238E27FC236}">
                <a16:creationId xmlns:a16="http://schemas.microsoft.com/office/drawing/2014/main" id="{0FC7F542-D14D-DAEB-A976-23B96FB12662}"/>
              </a:ext>
            </a:extLst>
          </p:cNvPr>
          <p:cNvSpPr txBox="1">
            <a:spLocks/>
          </p:cNvSpPr>
          <p:nvPr/>
        </p:nvSpPr>
        <p:spPr>
          <a:xfrm>
            <a:off x="6096000" y="3875412"/>
            <a:ext cx="4697748" cy="93478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latinLnBrk="1">
              <a:buNone/>
            </a:pPr>
            <a:endParaRPr lang="en-IT" dirty="0"/>
          </a:p>
          <a:p>
            <a:pPr latinLnBrk="1"/>
            <a:r>
              <a:rPr lang="en-IT" dirty="0"/>
              <a:t>Radice quadratico medio:</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5447F43-E6F1-FD09-1C55-27250CFB789D}"/>
                  </a:ext>
                </a:extLst>
              </p:cNvPr>
              <p:cNvSpPr txBox="1"/>
              <p:nvPr/>
            </p:nvSpPr>
            <p:spPr>
              <a:xfrm>
                <a:off x="6314935" y="4662205"/>
                <a:ext cx="3664786" cy="646331"/>
              </a:xfrm>
              <a:prstGeom prst="rect">
                <a:avLst/>
              </a:prstGeom>
              <a:noFill/>
            </p:spPr>
            <p:txBody>
              <a:bodyPr wrap="none" rtlCol="0">
                <a:spAutoFit/>
              </a:bodyPr>
              <a:lstStyle/>
              <a:p>
                <a:pPr latinLnBrk="1"/>
                <a:r>
                  <a:rPr lang="en-IT" b="1" dirty="0"/>
                  <a:t>RMSE medio = 0.243</a:t>
                </a:r>
                <a14:m>
                  <m:oMath xmlns:m="http://schemas.openxmlformats.org/officeDocument/2006/math">
                    <m:r>
                      <a:rPr lang="en-IT" b="1" i="1" smtClean="0">
                        <a:latin typeface="Cambria Math" panose="02040503050406030204" pitchFamily="18" charset="0"/>
                        <a:ea typeface="Cambria Math" panose="02040503050406030204" pitchFamily="18" charset="0"/>
                      </a:rPr>
                      <m:t>∙</m:t>
                    </m:r>
                    <m:r>
                      <a:rPr lang="it-IT" b="1" i="1" smtClean="0">
                        <a:latin typeface="Cambria Math" panose="02040503050406030204" pitchFamily="18" charset="0"/>
                        <a:ea typeface="Cambria Math" panose="02040503050406030204" pitchFamily="18" charset="0"/>
                      </a:rPr>
                      <m:t>𝟏𝟎</m:t>
                    </m:r>
                    <m:r>
                      <a:rPr lang="it-IT" b="1" i="1" baseline="30000" smtClean="0">
                        <a:latin typeface="Cambria Math" panose="02040503050406030204" pitchFamily="18" charset="0"/>
                        <a:ea typeface="Cambria Math" panose="02040503050406030204" pitchFamily="18" charset="0"/>
                      </a:rPr>
                      <m:t>𝟐𝟏</m:t>
                    </m:r>
                  </m:oMath>
                </a14:m>
                <a:r>
                  <a:rPr lang="en-IT" b="1" dirty="0"/>
                  <a:t> [1/F</a:t>
                </a:r>
                <a:r>
                  <a:rPr lang="en-IT" b="1" baseline="30000" dirty="0"/>
                  <a:t>2</a:t>
                </a:r>
                <a:r>
                  <a:rPr lang="en-IT" b="1" dirty="0"/>
                  <a:t>]</a:t>
                </a:r>
                <a:endParaRPr lang="en-IT" dirty="0"/>
              </a:p>
              <a:p>
                <a:endParaRPr lang="en-IT" dirty="0"/>
              </a:p>
            </p:txBody>
          </p:sp>
        </mc:Choice>
        <mc:Fallback xmlns="">
          <p:sp>
            <p:nvSpPr>
              <p:cNvPr id="17" name="TextBox 16">
                <a:extLst>
                  <a:ext uri="{FF2B5EF4-FFF2-40B4-BE49-F238E27FC236}">
                    <a16:creationId xmlns:a16="http://schemas.microsoft.com/office/drawing/2014/main" id="{C5447F43-E6F1-FD09-1C55-27250CFB789D}"/>
                  </a:ext>
                </a:extLst>
              </p:cNvPr>
              <p:cNvSpPr txBox="1">
                <a:spLocks noRot="1" noChangeAspect="1" noMove="1" noResize="1" noEditPoints="1" noAdjustHandles="1" noChangeArrowheads="1" noChangeShapeType="1" noTextEdit="1"/>
              </p:cNvSpPr>
              <p:nvPr/>
            </p:nvSpPr>
            <p:spPr>
              <a:xfrm>
                <a:off x="6314935" y="4662205"/>
                <a:ext cx="3664786" cy="646331"/>
              </a:xfrm>
              <a:prstGeom prst="rect">
                <a:avLst/>
              </a:prstGeom>
              <a:blipFill>
                <a:blip r:embed="rId3"/>
                <a:stretch>
                  <a:fillRect l="-1730" t="-5769" r="-692"/>
                </a:stretch>
              </a:blipFill>
            </p:spPr>
            <p:txBody>
              <a:bodyPr/>
              <a:lstStyle/>
              <a:p>
                <a:r>
                  <a:rPr lang="en-IT">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506BEC9-B696-6D37-BE94-5022E73613DF}"/>
                  </a:ext>
                </a:extLst>
              </p:cNvPr>
              <p:cNvSpPr txBox="1"/>
              <p:nvPr/>
            </p:nvSpPr>
            <p:spPr>
              <a:xfrm>
                <a:off x="6314935" y="5125609"/>
                <a:ext cx="3356110" cy="646331"/>
              </a:xfrm>
              <a:prstGeom prst="rect">
                <a:avLst/>
              </a:prstGeom>
              <a:noFill/>
            </p:spPr>
            <p:txBody>
              <a:bodyPr wrap="square">
                <a:spAutoFit/>
              </a:bodyPr>
              <a:lstStyle/>
              <a:p>
                <a:pPr latinLnBrk="1"/>
                <a:r>
                  <a:rPr lang="en-IT" sz="1800" dirty="0"/>
                  <a:t>min = 0.058 </a:t>
                </a:r>
                <a14:m>
                  <m:oMath xmlns:m="http://schemas.openxmlformats.org/officeDocument/2006/math">
                    <m:r>
                      <a:rPr lang="en-IT" sz="1800" b="0" i="1" smtClean="0">
                        <a:latin typeface="Cambria Math" panose="02040503050406030204" pitchFamily="18" charset="0"/>
                        <a:ea typeface="Cambria Math" panose="02040503050406030204" pitchFamily="18" charset="0"/>
                      </a:rPr>
                      <m:t>∙</m:t>
                    </m:r>
                    <m:r>
                      <a:rPr lang="it-IT" sz="1800" b="0" i="1" smtClean="0">
                        <a:latin typeface="Cambria Math" panose="02040503050406030204" pitchFamily="18" charset="0"/>
                        <a:ea typeface="Cambria Math" panose="02040503050406030204" pitchFamily="18" charset="0"/>
                      </a:rPr>
                      <m:t>10</m:t>
                    </m:r>
                    <m:r>
                      <a:rPr lang="it-IT" sz="1800" b="0" i="1" baseline="30000" smtClean="0">
                        <a:latin typeface="Cambria Math" panose="02040503050406030204" pitchFamily="18" charset="0"/>
                        <a:ea typeface="Cambria Math" panose="02040503050406030204" pitchFamily="18" charset="0"/>
                      </a:rPr>
                      <m:t>21</m:t>
                    </m:r>
                  </m:oMath>
                </a14:m>
                <a:r>
                  <a:rPr lang="en-IT" sz="1800" dirty="0"/>
                  <a:t> [1/F</a:t>
                </a:r>
                <a:r>
                  <a:rPr lang="en-IT" sz="1800" baseline="30000" dirty="0"/>
                  <a:t>2</a:t>
                </a:r>
                <a:r>
                  <a:rPr lang="en-IT" sz="1800" dirty="0"/>
                  <a:t>]</a:t>
                </a:r>
              </a:p>
              <a:p>
                <a:pPr latinLnBrk="1"/>
                <a:r>
                  <a:rPr lang="en-IT" sz="1800" dirty="0"/>
                  <a:t>max = 0.453</a:t>
                </a:r>
                <a14:m>
                  <m:oMath xmlns:m="http://schemas.openxmlformats.org/officeDocument/2006/math">
                    <m:r>
                      <a:rPr lang="en-IT" sz="1800" b="0" i="1" smtClean="0">
                        <a:latin typeface="Cambria Math" panose="02040503050406030204" pitchFamily="18" charset="0"/>
                        <a:ea typeface="Cambria Math" panose="02040503050406030204" pitchFamily="18" charset="0"/>
                      </a:rPr>
                      <m:t>∙</m:t>
                    </m:r>
                    <m:r>
                      <a:rPr lang="it-IT" sz="1800" b="0" i="1" smtClean="0">
                        <a:latin typeface="Cambria Math" panose="02040503050406030204" pitchFamily="18" charset="0"/>
                        <a:ea typeface="Cambria Math" panose="02040503050406030204" pitchFamily="18" charset="0"/>
                      </a:rPr>
                      <m:t>10</m:t>
                    </m:r>
                    <m:r>
                      <a:rPr lang="it-IT" sz="1800" b="0" i="1" baseline="30000" smtClean="0">
                        <a:latin typeface="Cambria Math" panose="02040503050406030204" pitchFamily="18" charset="0"/>
                        <a:ea typeface="Cambria Math" panose="02040503050406030204" pitchFamily="18" charset="0"/>
                      </a:rPr>
                      <m:t>21</m:t>
                    </m:r>
                  </m:oMath>
                </a14:m>
                <a:r>
                  <a:rPr lang="en-IT" sz="1800" dirty="0"/>
                  <a:t> [1/F</a:t>
                </a:r>
                <a:r>
                  <a:rPr lang="en-IT" sz="1800" baseline="30000" dirty="0"/>
                  <a:t>2</a:t>
                </a:r>
                <a:r>
                  <a:rPr lang="en-IT" sz="1800" dirty="0"/>
                  <a:t>]</a:t>
                </a:r>
              </a:p>
            </p:txBody>
          </p:sp>
        </mc:Choice>
        <mc:Fallback xmlns="">
          <p:sp>
            <p:nvSpPr>
              <p:cNvPr id="19" name="TextBox 18">
                <a:extLst>
                  <a:ext uri="{FF2B5EF4-FFF2-40B4-BE49-F238E27FC236}">
                    <a16:creationId xmlns:a16="http://schemas.microsoft.com/office/drawing/2014/main" id="{D506BEC9-B696-6D37-BE94-5022E73613DF}"/>
                  </a:ext>
                </a:extLst>
              </p:cNvPr>
              <p:cNvSpPr txBox="1">
                <a:spLocks noRot="1" noChangeAspect="1" noMove="1" noResize="1" noEditPoints="1" noAdjustHandles="1" noChangeArrowheads="1" noChangeShapeType="1" noTextEdit="1"/>
              </p:cNvSpPr>
              <p:nvPr/>
            </p:nvSpPr>
            <p:spPr>
              <a:xfrm>
                <a:off x="6314935" y="5125609"/>
                <a:ext cx="3356110" cy="646331"/>
              </a:xfrm>
              <a:prstGeom prst="rect">
                <a:avLst/>
              </a:prstGeom>
              <a:blipFill>
                <a:blip r:embed="rId4"/>
                <a:stretch>
                  <a:fillRect l="-1887" t="-3846" b="-13462"/>
                </a:stretch>
              </a:blipFill>
            </p:spPr>
            <p:txBody>
              <a:bodyPr/>
              <a:lstStyle/>
              <a:p>
                <a:r>
                  <a:rPr lang="en-IT">
                    <a:noFill/>
                  </a:rPr>
                  <a:t> </a:t>
                </a:r>
              </a:p>
            </p:txBody>
          </p:sp>
        </mc:Fallback>
      </mc:AlternateContent>
      <p:cxnSp>
        <p:nvCxnSpPr>
          <p:cNvPr id="21" name="Straight Connector 20">
            <a:extLst>
              <a:ext uri="{FF2B5EF4-FFF2-40B4-BE49-F238E27FC236}">
                <a16:creationId xmlns:a16="http://schemas.microsoft.com/office/drawing/2014/main" id="{9FD4A25C-6F4A-E0E5-8403-CD40BF8ED497}"/>
              </a:ext>
            </a:extLst>
          </p:cNvPr>
          <p:cNvCxnSpPr/>
          <p:nvPr/>
        </p:nvCxnSpPr>
        <p:spPr>
          <a:xfrm>
            <a:off x="6376592" y="2907169"/>
            <a:ext cx="45880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C3760C8-CD20-4F2D-48FB-453B15877E73}"/>
              </a:ext>
            </a:extLst>
          </p:cNvPr>
          <p:cNvCxnSpPr/>
          <p:nvPr/>
        </p:nvCxnSpPr>
        <p:spPr>
          <a:xfrm>
            <a:off x="6376592" y="4098515"/>
            <a:ext cx="45880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7E02601-3CD5-55D7-DBB4-EF5AE42CE7F7}"/>
              </a:ext>
            </a:extLst>
          </p:cNvPr>
          <p:cNvPicPr>
            <a:picLocks noChangeAspect="1"/>
          </p:cNvPicPr>
          <p:nvPr/>
        </p:nvPicPr>
        <p:blipFill>
          <a:blip r:embed="rId5"/>
          <a:stretch>
            <a:fillRect/>
          </a:stretch>
        </p:blipFill>
        <p:spPr>
          <a:xfrm>
            <a:off x="499795" y="1580533"/>
            <a:ext cx="5331293" cy="4213221"/>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E4F28C6-46BF-5059-42A0-D36A006F5C4B}"/>
                  </a:ext>
                </a:extLst>
              </p:cNvPr>
              <p:cNvSpPr txBox="1"/>
              <p:nvPr/>
            </p:nvSpPr>
            <p:spPr>
              <a:xfrm>
                <a:off x="499795" y="6340929"/>
                <a:ext cx="11192410" cy="338554"/>
              </a:xfrm>
              <a:prstGeom prst="rect">
                <a:avLst/>
              </a:prstGeom>
              <a:noFill/>
            </p:spPr>
            <p:txBody>
              <a:bodyPr wrap="square" rtlCol="0">
                <a:spAutoFit/>
              </a:bodyPr>
              <a:lstStyle/>
              <a:p>
                <a:r>
                  <a:rPr lang="en-GB" sz="1600" dirty="0"/>
                  <a:t>N</a:t>
                </a:r>
                <a:r>
                  <a:rPr lang="en-IT" sz="1600" dirty="0"/>
                  <a:t>ota: il </a:t>
                </a:r>
                <a14:m>
                  <m:oMath xmlns:m="http://schemas.openxmlformats.org/officeDocument/2006/math">
                    <m:r>
                      <a:rPr lang="en-IT" sz="1600" b="0" i="1">
                        <a:latin typeface="Cambria Math" panose="02040503050406030204" pitchFamily="18" charset="0"/>
                        <a:ea typeface="Cambria Math" panose="02040503050406030204" pitchFamily="18" charset="0"/>
                      </a:rPr>
                      <m:t>𝜒</m:t>
                    </m:r>
                    <m:r>
                      <a:rPr lang="it-IT" sz="1600" b="0" i="1" baseline="30000">
                        <a:latin typeface="Cambria Math" panose="02040503050406030204" pitchFamily="18" charset="0"/>
                        <a:ea typeface="Cambria Math" panose="02040503050406030204" pitchFamily="18" charset="0"/>
                      </a:rPr>
                      <m:t>2</m:t>
                    </m:r>
                    <m:r>
                      <a:rPr lang="it-IT" sz="1600" b="0" i="1" baseline="30000" smtClean="0">
                        <a:latin typeface="Cambria Math" panose="02040503050406030204" pitchFamily="18" charset="0"/>
                        <a:ea typeface="Cambria Math" panose="02040503050406030204" pitchFamily="18" charset="0"/>
                      </a:rPr>
                      <m:t> </m:t>
                    </m:r>
                  </m:oMath>
                </a14:m>
                <a:r>
                  <a:rPr lang="en-IT" sz="1600" dirty="0"/>
                  <a:t>mostrato è scalato di un fattore 10</a:t>
                </a:r>
                <a:r>
                  <a:rPr lang="en-IT" sz="1600" baseline="30000" dirty="0"/>
                  <a:t>40</a:t>
                </a:r>
                <a:r>
                  <a:rPr lang="en-IT" sz="1600" dirty="0"/>
                  <a:t> . Esso non ha significato statistico in quanto non si è espresso l’errore di V bias e 1/C</a:t>
                </a:r>
                <a:r>
                  <a:rPr lang="en-IT" sz="1600" baseline="30000" dirty="0"/>
                  <a:t>2</a:t>
                </a:r>
              </a:p>
            </p:txBody>
          </p:sp>
        </mc:Choice>
        <mc:Fallback xmlns="">
          <p:sp>
            <p:nvSpPr>
              <p:cNvPr id="18" name="TextBox 17">
                <a:extLst>
                  <a:ext uri="{FF2B5EF4-FFF2-40B4-BE49-F238E27FC236}">
                    <a16:creationId xmlns:a16="http://schemas.microsoft.com/office/drawing/2014/main" id="{BE4F28C6-46BF-5059-42A0-D36A006F5C4B}"/>
                  </a:ext>
                </a:extLst>
              </p:cNvPr>
              <p:cNvSpPr txBox="1">
                <a:spLocks noRot="1" noChangeAspect="1" noMove="1" noResize="1" noEditPoints="1" noAdjustHandles="1" noChangeArrowheads="1" noChangeShapeType="1" noTextEdit="1"/>
              </p:cNvSpPr>
              <p:nvPr/>
            </p:nvSpPr>
            <p:spPr>
              <a:xfrm>
                <a:off x="499795" y="6340929"/>
                <a:ext cx="11192410" cy="338554"/>
              </a:xfrm>
              <a:prstGeom prst="rect">
                <a:avLst/>
              </a:prstGeom>
              <a:blipFill>
                <a:blip r:embed="rId6"/>
                <a:stretch>
                  <a:fillRect l="-340" t="-10714" b="-17857"/>
                </a:stretch>
              </a:blipFill>
            </p:spPr>
            <p:txBody>
              <a:bodyPr/>
              <a:lstStyle/>
              <a:p>
                <a:r>
                  <a:rPr lang="en-IT">
                    <a:noFill/>
                  </a:rPr>
                  <a:t> </a:t>
                </a:r>
              </a:p>
            </p:txBody>
          </p:sp>
        </mc:Fallback>
      </mc:AlternateContent>
    </p:spTree>
    <p:extLst>
      <p:ext uri="{BB962C8B-B14F-4D97-AF65-F5344CB8AC3E}">
        <p14:creationId xmlns:p14="http://schemas.microsoft.com/office/powerpoint/2010/main" val="263296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F39B5-0240-1171-452A-E697E0FDE5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C3D061-A4DC-28C2-A716-655F07FE46DC}"/>
              </a:ext>
            </a:extLst>
          </p:cNvPr>
          <p:cNvSpPr>
            <a:spLocks noGrp="1"/>
          </p:cNvSpPr>
          <p:nvPr>
            <p:ph type="title"/>
          </p:nvPr>
        </p:nvSpPr>
        <p:spPr>
          <a:xfrm>
            <a:off x="2231136" y="145985"/>
            <a:ext cx="7729728" cy="1188720"/>
          </a:xfrm>
        </p:spPr>
        <p:txBody>
          <a:bodyPr/>
          <a:lstStyle/>
          <a:p>
            <a:r>
              <a:rPr lang="en-IT" dirty="0"/>
              <a:t>RANGE 50% - 75% </a:t>
            </a:r>
          </a:p>
        </p:txBody>
      </p:sp>
      <p:sp>
        <p:nvSpPr>
          <p:cNvPr id="3" name="Content Placeholder 2">
            <a:extLst>
              <a:ext uri="{FF2B5EF4-FFF2-40B4-BE49-F238E27FC236}">
                <a16:creationId xmlns:a16="http://schemas.microsoft.com/office/drawing/2014/main" id="{98F31672-C3D4-FA34-6CDF-74B585B7CDA1}"/>
              </a:ext>
            </a:extLst>
          </p:cNvPr>
          <p:cNvSpPr>
            <a:spLocks noGrp="1"/>
          </p:cNvSpPr>
          <p:nvPr>
            <p:ph idx="1"/>
          </p:nvPr>
        </p:nvSpPr>
        <p:spPr>
          <a:xfrm>
            <a:off x="6096000" y="1818151"/>
            <a:ext cx="4697748" cy="706289"/>
          </a:xfrm>
        </p:spPr>
        <p:txBody>
          <a:bodyPr>
            <a:normAutofit/>
          </a:bodyPr>
          <a:lstStyle/>
          <a:p>
            <a:r>
              <a:rPr lang="en-IT" sz="1600" dirty="0"/>
              <a:t>Il numero medio di punti utilizzati per il fit  nella regione di bulk è: </a:t>
            </a:r>
          </a:p>
        </p:txBody>
      </p:sp>
      <p:sp>
        <p:nvSpPr>
          <p:cNvPr id="7" name="TextBox 6">
            <a:extLst>
              <a:ext uri="{FF2B5EF4-FFF2-40B4-BE49-F238E27FC236}">
                <a16:creationId xmlns:a16="http://schemas.microsoft.com/office/drawing/2014/main" id="{FAA7DCB9-1A9E-C63F-E9FE-AEA737DD1AF9}"/>
              </a:ext>
            </a:extLst>
          </p:cNvPr>
          <p:cNvSpPr txBox="1"/>
          <p:nvPr/>
        </p:nvSpPr>
        <p:spPr>
          <a:xfrm>
            <a:off x="6360914" y="2427914"/>
            <a:ext cx="1342034" cy="461665"/>
          </a:xfrm>
          <a:prstGeom prst="rect">
            <a:avLst/>
          </a:prstGeom>
          <a:noFill/>
        </p:spPr>
        <p:txBody>
          <a:bodyPr wrap="none" rtlCol="0">
            <a:spAutoFit/>
          </a:bodyPr>
          <a:lstStyle/>
          <a:p>
            <a:r>
              <a:rPr lang="en-IT" sz="2400" b="1" dirty="0"/>
              <a:t>N= </a:t>
            </a:r>
            <a:r>
              <a:rPr lang="en-IT" sz="2000" b="1" dirty="0"/>
              <a:t>10.69</a:t>
            </a:r>
          </a:p>
        </p:txBody>
      </p:sp>
      <p:sp>
        <p:nvSpPr>
          <p:cNvPr id="8" name="TextBox 7">
            <a:extLst>
              <a:ext uri="{FF2B5EF4-FFF2-40B4-BE49-F238E27FC236}">
                <a16:creationId xmlns:a16="http://schemas.microsoft.com/office/drawing/2014/main" id="{F9A88A82-7F16-9C18-CA9C-C56B70A82B9E}"/>
              </a:ext>
            </a:extLst>
          </p:cNvPr>
          <p:cNvSpPr txBox="1"/>
          <p:nvPr/>
        </p:nvSpPr>
        <p:spPr>
          <a:xfrm>
            <a:off x="7912173" y="2452839"/>
            <a:ext cx="3052439" cy="307777"/>
          </a:xfrm>
          <a:prstGeom prst="rect">
            <a:avLst/>
          </a:prstGeom>
          <a:noFill/>
        </p:spPr>
        <p:txBody>
          <a:bodyPr wrap="none" rtlCol="0">
            <a:spAutoFit/>
          </a:bodyPr>
          <a:lstStyle/>
          <a:p>
            <a:r>
              <a:rPr lang="en-IT" sz="1400" dirty="0"/>
              <a:t>con un minimo di 9 e un massimo di 15</a:t>
            </a:r>
          </a:p>
        </p:txBody>
      </p:sp>
      <p:sp>
        <p:nvSpPr>
          <p:cNvPr id="10" name="Content Placeholder 2">
            <a:extLst>
              <a:ext uri="{FF2B5EF4-FFF2-40B4-BE49-F238E27FC236}">
                <a16:creationId xmlns:a16="http://schemas.microsoft.com/office/drawing/2014/main" id="{00C83959-BAB8-84FE-1AC5-E534CF52418B}"/>
              </a:ext>
            </a:extLst>
          </p:cNvPr>
          <p:cNvSpPr txBox="1">
            <a:spLocks/>
          </p:cNvSpPr>
          <p:nvPr/>
        </p:nvSpPr>
        <p:spPr>
          <a:xfrm>
            <a:off x="6096000" y="3040657"/>
            <a:ext cx="4697748" cy="51214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T" dirty="0"/>
              <a:t>Chi^2 ridotto medio:</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927F12F-1FA3-BCB2-5E7C-F8C6C2239EBD}"/>
                  </a:ext>
                </a:extLst>
              </p:cNvPr>
              <p:cNvSpPr txBox="1"/>
              <p:nvPr/>
            </p:nvSpPr>
            <p:spPr>
              <a:xfrm>
                <a:off x="6360914" y="3431073"/>
                <a:ext cx="1980029" cy="369332"/>
              </a:xfrm>
              <a:prstGeom prst="rect">
                <a:avLst/>
              </a:prstGeom>
              <a:noFill/>
            </p:spPr>
            <p:txBody>
              <a:bodyPr wrap="none" rtlCol="0">
                <a:spAutoFit/>
              </a:bodyPr>
              <a:lstStyle/>
              <a:p>
                <a14:m>
                  <m:oMath xmlns:m="http://schemas.openxmlformats.org/officeDocument/2006/math">
                    <m:r>
                      <a:rPr lang="en-IT" b="1" i="1">
                        <a:latin typeface="Cambria Math" panose="02040503050406030204" pitchFamily="18" charset="0"/>
                        <a:ea typeface="Cambria Math" panose="02040503050406030204" pitchFamily="18" charset="0"/>
                      </a:rPr>
                      <m:t>𝝌</m:t>
                    </m:r>
                    <m:r>
                      <a:rPr lang="it-IT" b="1" i="1" baseline="30000">
                        <a:latin typeface="Cambria Math" panose="02040503050406030204" pitchFamily="18" charset="0"/>
                        <a:ea typeface="Cambria Math" panose="02040503050406030204" pitchFamily="18" charset="0"/>
                      </a:rPr>
                      <m:t>𝟐</m:t>
                    </m:r>
                  </m:oMath>
                </a14:m>
                <a:r>
                  <a:rPr lang="en-IT" b="1" dirty="0"/>
                  <a:t>_mean = 10.22</a:t>
                </a:r>
              </a:p>
            </p:txBody>
          </p:sp>
        </mc:Choice>
        <mc:Fallback xmlns="">
          <p:sp>
            <p:nvSpPr>
              <p:cNvPr id="11" name="TextBox 10">
                <a:extLst>
                  <a:ext uri="{FF2B5EF4-FFF2-40B4-BE49-F238E27FC236}">
                    <a16:creationId xmlns:a16="http://schemas.microsoft.com/office/drawing/2014/main" id="{5927F12F-1FA3-BCB2-5E7C-F8C6C2239EBD}"/>
                  </a:ext>
                </a:extLst>
              </p:cNvPr>
              <p:cNvSpPr txBox="1">
                <a:spLocks noRot="1" noChangeAspect="1" noMove="1" noResize="1" noEditPoints="1" noAdjustHandles="1" noChangeArrowheads="1" noChangeShapeType="1" noTextEdit="1"/>
              </p:cNvSpPr>
              <p:nvPr/>
            </p:nvSpPr>
            <p:spPr>
              <a:xfrm>
                <a:off x="6360914" y="3431073"/>
                <a:ext cx="1980029" cy="369332"/>
              </a:xfrm>
              <a:prstGeom prst="rect">
                <a:avLst/>
              </a:prstGeom>
              <a:blipFill>
                <a:blip r:embed="rId3"/>
                <a:stretch>
                  <a:fillRect t="-10000" r="-1911" b="-23333"/>
                </a:stretch>
              </a:blipFill>
            </p:spPr>
            <p:txBody>
              <a:bodyPr/>
              <a:lstStyle/>
              <a:p>
                <a:r>
                  <a:rPr lang="en-IT">
                    <a:noFill/>
                  </a:rPr>
                  <a:t> </a:t>
                </a:r>
              </a:p>
            </p:txBody>
          </p:sp>
        </mc:Fallback>
      </mc:AlternateContent>
      <p:sp>
        <p:nvSpPr>
          <p:cNvPr id="12" name="TextBox 11">
            <a:extLst>
              <a:ext uri="{FF2B5EF4-FFF2-40B4-BE49-F238E27FC236}">
                <a16:creationId xmlns:a16="http://schemas.microsoft.com/office/drawing/2014/main" id="{299B50CF-7973-0647-DE74-2D4EE7674451}"/>
              </a:ext>
            </a:extLst>
          </p:cNvPr>
          <p:cNvSpPr txBox="1"/>
          <p:nvPr/>
        </p:nvSpPr>
        <p:spPr>
          <a:xfrm>
            <a:off x="8752182" y="3307791"/>
            <a:ext cx="4424860" cy="584775"/>
          </a:xfrm>
          <a:prstGeom prst="rect">
            <a:avLst/>
          </a:prstGeom>
          <a:noFill/>
        </p:spPr>
        <p:txBody>
          <a:bodyPr wrap="square" rtlCol="0">
            <a:spAutoFit/>
          </a:bodyPr>
          <a:lstStyle/>
          <a:p>
            <a:r>
              <a:rPr lang="en-IT" sz="1600" dirty="0"/>
              <a:t> - min = 1.56</a:t>
            </a:r>
          </a:p>
          <a:p>
            <a:r>
              <a:rPr lang="en-IT" sz="1600" dirty="0"/>
              <a:t> - max = 260.34</a:t>
            </a:r>
          </a:p>
        </p:txBody>
      </p:sp>
      <p:sp>
        <p:nvSpPr>
          <p:cNvPr id="15" name="Content Placeholder 2">
            <a:extLst>
              <a:ext uri="{FF2B5EF4-FFF2-40B4-BE49-F238E27FC236}">
                <a16:creationId xmlns:a16="http://schemas.microsoft.com/office/drawing/2014/main" id="{590DAB53-718A-728F-F284-3781585E2420}"/>
              </a:ext>
            </a:extLst>
          </p:cNvPr>
          <p:cNvSpPr txBox="1">
            <a:spLocks/>
          </p:cNvSpPr>
          <p:nvPr/>
        </p:nvSpPr>
        <p:spPr>
          <a:xfrm>
            <a:off x="6360914" y="4190821"/>
            <a:ext cx="4697748" cy="51214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latinLnBrk="1">
              <a:buNone/>
            </a:pPr>
            <a:endParaRPr lang="en-IT" dirty="0"/>
          </a:p>
        </p:txBody>
      </p:sp>
      <p:sp>
        <p:nvSpPr>
          <p:cNvPr id="16" name="Content Placeholder 2">
            <a:extLst>
              <a:ext uri="{FF2B5EF4-FFF2-40B4-BE49-F238E27FC236}">
                <a16:creationId xmlns:a16="http://schemas.microsoft.com/office/drawing/2014/main" id="{A7C94BB9-A40F-CA41-76A6-9694D6CF039C}"/>
              </a:ext>
            </a:extLst>
          </p:cNvPr>
          <p:cNvSpPr txBox="1">
            <a:spLocks/>
          </p:cNvSpPr>
          <p:nvPr/>
        </p:nvSpPr>
        <p:spPr>
          <a:xfrm>
            <a:off x="6096000" y="3875412"/>
            <a:ext cx="4697748" cy="93478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latinLnBrk="1">
              <a:buNone/>
            </a:pPr>
            <a:endParaRPr lang="en-IT" dirty="0"/>
          </a:p>
          <a:p>
            <a:pPr latinLnBrk="1"/>
            <a:r>
              <a:rPr lang="en-IT" dirty="0"/>
              <a:t>Radice errore quadratico medio:</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6ADE860-756C-3315-3083-56D7B03E78D1}"/>
                  </a:ext>
                </a:extLst>
              </p:cNvPr>
              <p:cNvSpPr txBox="1"/>
              <p:nvPr/>
            </p:nvSpPr>
            <p:spPr>
              <a:xfrm>
                <a:off x="6314935" y="4662205"/>
                <a:ext cx="3664786" cy="646331"/>
              </a:xfrm>
              <a:prstGeom prst="rect">
                <a:avLst/>
              </a:prstGeom>
              <a:noFill/>
            </p:spPr>
            <p:txBody>
              <a:bodyPr wrap="none" rtlCol="0">
                <a:spAutoFit/>
              </a:bodyPr>
              <a:lstStyle/>
              <a:p>
                <a:pPr latinLnBrk="1"/>
                <a:r>
                  <a:rPr lang="en-IT" b="1" dirty="0"/>
                  <a:t>RMSE medio = 0.253</a:t>
                </a:r>
                <a14:m>
                  <m:oMath xmlns:m="http://schemas.openxmlformats.org/officeDocument/2006/math">
                    <m:r>
                      <a:rPr lang="en-IT" b="1" i="1" smtClean="0">
                        <a:latin typeface="Cambria Math" panose="02040503050406030204" pitchFamily="18" charset="0"/>
                        <a:ea typeface="Cambria Math" panose="02040503050406030204" pitchFamily="18" charset="0"/>
                      </a:rPr>
                      <m:t>∙</m:t>
                    </m:r>
                    <m:r>
                      <a:rPr lang="it-IT" b="1" i="1" smtClean="0">
                        <a:latin typeface="Cambria Math" panose="02040503050406030204" pitchFamily="18" charset="0"/>
                        <a:ea typeface="Cambria Math" panose="02040503050406030204" pitchFamily="18" charset="0"/>
                      </a:rPr>
                      <m:t>𝟏𝟎</m:t>
                    </m:r>
                    <m:r>
                      <a:rPr lang="it-IT" b="1" i="1" baseline="30000" smtClean="0">
                        <a:latin typeface="Cambria Math" panose="02040503050406030204" pitchFamily="18" charset="0"/>
                        <a:ea typeface="Cambria Math" panose="02040503050406030204" pitchFamily="18" charset="0"/>
                      </a:rPr>
                      <m:t>𝟐𝟏</m:t>
                    </m:r>
                  </m:oMath>
                </a14:m>
                <a:r>
                  <a:rPr lang="en-IT" b="1" dirty="0"/>
                  <a:t> [1/F</a:t>
                </a:r>
                <a:r>
                  <a:rPr lang="en-IT" b="1" baseline="30000" dirty="0"/>
                  <a:t>2</a:t>
                </a:r>
                <a:r>
                  <a:rPr lang="en-IT" b="1" dirty="0"/>
                  <a:t>]</a:t>
                </a:r>
                <a:endParaRPr lang="en-IT" dirty="0"/>
              </a:p>
              <a:p>
                <a:endParaRPr lang="en-IT" dirty="0"/>
              </a:p>
            </p:txBody>
          </p:sp>
        </mc:Choice>
        <mc:Fallback xmlns="">
          <p:sp>
            <p:nvSpPr>
              <p:cNvPr id="17" name="TextBox 16">
                <a:extLst>
                  <a:ext uri="{FF2B5EF4-FFF2-40B4-BE49-F238E27FC236}">
                    <a16:creationId xmlns:a16="http://schemas.microsoft.com/office/drawing/2014/main" id="{86ADE860-756C-3315-3083-56D7B03E78D1}"/>
                  </a:ext>
                </a:extLst>
              </p:cNvPr>
              <p:cNvSpPr txBox="1">
                <a:spLocks noRot="1" noChangeAspect="1" noMove="1" noResize="1" noEditPoints="1" noAdjustHandles="1" noChangeArrowheads="1" noChangeShapeType="1" noTextEdit="1"/>
              </p:cNvSpPr>
              <p:nvPr/>
            </p:nvSpPr>
            <p:spPr>
              <a:xfrm>
                <a:off x="6314935" y="4662205"/>
                <a:ext cx="3664786" cy="646331"/>
              </a:xfrm>
              <a:prstGeom prst="rect">
                <a:avLst/>
              </a:prstGeom>
              <a:blipFill>
                <a:blip r:embed="rId4"/>
                <a:stretch>
                  <a:fillRect l="-1730" t="-5769" r="-692"/>
                </a:stretch>
              </a:blipFill>
            </p:spPr>
            <p:txBody>
              <a:bodyPr/>
              <a:lstStyle/>
              <a:p>
                <a:r>
                  <a:rPr lang="en-IT">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A7564C5-62D7-EE3C-515E-7DD724420D8D}"/>
                  </a:ext>
                </a:extLst>
              </p:cNvPr>
              <p:cNvSpPr txBox="1"/>
              <p:nvPr/>
            </p:nvSpPr>
            <p:spPr>
              <a:xfrm>
                <a:off x="6314935" y="5125609"/>
                <a:ext cx="3356110" cy="646331"/>
              </a:xfrm>
              <a:prstGeom prst="rect">
                <a:avLst/>
              </a:prstGeom>
              <a:noFill/>
            </p:spPr>
            <p:txBody>
              <a:bodyPr wrap="square">
                <a:spAutoFit/>
              </a:bodyPr>
              <a:lstStyle/>
              <a:p>
                <a:pPr latinLnBrk="1"/>
                <a:r>
                  <a:rPr lang="en-IT" sz="1800" dirty="0"/>
                  <a:t>min = 0.112 </a:t>
                </a:r>
                <a14:m>
                  <m:oMath xmlns:m="http://schemas.openxmlformats.org/officeDocument/2006/math">
                    <m:r>
                      <a:rPr lang="en-IT" sz="1800" b="0" i="1" smtClean="0">
                        <a:latin typeface="Cambria Math" panose="02040503050406030204" pitchFamily="18" charset="0"/>
                        <a:ea typeface="Cambria Math" panose="02040503050406030204" pitchFamily="18" charset="0"/>
                      </a:rPr>
                      <m:t>∙</m:t>
                    </m:r>
                    <m:r>
                      <a:rPr lang="it-IT" sz="1800" b="0" i="1" smtClean="0">
                        <a:latin typeface="Cambria Math" panose="02040503050406030204" pitchFamily="18" charset="0"/>
                        <a:ea typeface="Cambria Math" panose="02040503050406030204" pitchFamily="18" charset="0"/>
                      </a:rPr>
                      <m:t>10</m:t>
                    </m:r>
                    <m:r>
                      <a:rPr lang="it-IT" sz="1800" b="0" i="1" baseline="30000" smtClean="0">
                        <a:latin typeface="Cambria Math" panose="02040503050406030204" pitchFamily="18" charset="0"/>
                        <a:ea typeface="Cambria Math" panose="02040503050406030204" pitchFamily="18" charset="0"/>
                      </a:rPr>
                      <m:t>21</m:t>
                    </m:r>
                  </m:oMath>
                </a14:m>
                <a:r>
                  <a:rPr lang="en-IT" sz="1800" dirty="0"/>
                  <a:t> [1/F</a:t>
                </a:r>
                <a:r>
                  <a:rPr lang="en-IT" sz="1800" baseline="30000" dirty="0"/>
                  <a:t>2</a:t>
                </a:r>
                <a:r>
                  <a:rPr lang="en-IT" sz="1800" dirty="0"/>
                  <a:t>]</a:t>
                </a:r>
              </a:p>
              <a:p>
                <a:pPr latinLnBrk="1"/>
                <a:r>
                  <a:rPr lang="en-IT" sz="1800" dirty="0"/>
                  <a:t>max = </a:t>
                </a:r>
                <a:r>
                  <a:rPr lang="en-IT" dirty="0"/>
                  <a:t>1.502</a:t>
                </a:r>
                <a14:m>
                  <m:oMath xmlns:m="http://schemas.openxmlformats.org/officeDocument/2006/math">
                    <m:r>
                      <a:rPr lang="en-IT" sz="1800" b="0" i="1" smtClean="0">
                        <a:latin typeface="Cambria Math" panose="02040503050406030204" pitchFamily="18" charset="0"/>
                        <a:ea typeface="Cambria Math" panose="02040503050406030204" pitchFamily="18" charset="0"/>
                      </a:rPr>
                      <m:t>∙</m:t>
                    </m:r>
                    <m:r>
                      <a:rPr lang="it-IT" sz="1800" b="0" i="1" smtClean="0">
                        <a:latin typeface="Cambria Math" panose="02040503050406030204" pitchFamily="18" charset="0"/>
                        <a:ea typeface="Cambria Math" panose="02040503050406030204" pitchFamily="18" charset="0"/>
                      </a:rPr>
                      <m:t>10</m:t>
                    </m:r>
                    <m:r>
                      <a:rPr lang="it-IT" sz="1800" b="0" i="1" baseline="30000" smtClean="0">
                        <a:latin typeface="Cambria Math" panose="02040503050406030204" pitchFamily="18" charset="0"/>
                        <a:ea typeface="Cambria Math" panose="02040503050406030204" pitchFamily="18" charset="0"/>
                      </a:rPr>
                      <m:t>21</m:t>
                    </m:r>
                  </m:oMath>
                </a14:m>
                <a:r>
                  <a:rPr lang="en-IT" sz="1800" dirty="0"/>
                  <a:t> [1/F</a:t>
                </a:r>
                <a:r>
                  <a:rPr lang="en-IT" sz="1800" baseline="30000" dirty="0"/>
                  <a:t>2</a:t>
                </a:r>
                <a:r>
                  <a:rPr lang="en-IT" sz="1800" dirty="0"/>
                  <a:t>]</a:t>
                </a:r>
              </a:p>
            </p:txBody>
          </p:sp>
        </mc:Choice>
        <mc:Fallback xmlns="">
          <p:sp>
            <p:nvSpPr>
              <p:cNvPr id="19" name="TextBox 18">
                <a:extLst>
                  <a:ext uri="{FF2B5EF4-FFF2-40B4-BE49-F238E27FC236}">
                    <a16:creationId xmlns:a16="http://schemas.microsoft.com/office/drawing/2014/main" id="{0A7564C5-62D7-EE3C-515E-7DD724420D8D}"/>
                  </a:ext>
                </a:extLst>
              </p:cNvPr>
              <p:cNvSpPr txBox="1">
                <a:spLocks noRot="1" noChangeAspect="1" noMove="1" noResize="1" noEditPoints="1" noAdjustHandles="1" noChangeArrowheads="1" noChangeShapeType="1" noTextEdit="1"/>
              </p:cNvSpPr>
              <p:nvPr/>
            </p:nvSpPr>
            <p:spPr>
              <a:xfrm>
                <a:off x="6314935" y="5125609"/>
                <a:ext cx="3356110" cy="646331"/>
              </a:xfrm>
              <a:prstGeom prst="rect">
                <a:avLst/>
              </a:prstGeom>
              <a:blipFill>
                <a:blip r:embed="rId5"/>
                <a:stretch>
                  <a:fillRect l="-1887" t="-3846" b="-13462"/>
                </a:stretch>
              </a:blipFill>
            </p:spPr>
            <p:txBody>
              <a:bodyPr/>
              <a:lstStyle/>
              <a:p>
                <a:r>
                  <a:rPr lang="en-IT">
                    <a:noFill/>
                  </a:rPr>
                  <a:t> </a:t>
                </a:r>
              </a:p>
            </p:txBody>
          </p:sp>
        </mc:Fallback>
      </mc:AlternateContent>
      <p:cxnSp>
        <p:nvCxnSpPr>
          <p:cNvPr id="21" name="Straight Connector 20">
            <a:extLst>
              <a:ext uri="{FF2B5EF4-FFF2-40B4-BE49-F238E27FC236}">
                <a16:creationId xmlns:a16="http://schemas.microsoft.com/office/drawing/2014/main" id="{81C5B1FD-475B-8E4D-EF86-6C61BDE50B1E}"/>
              </a:ext>
            </a:extLst>
          </p:cNvPr>
          <p:cNvCxnSpPr/>
          <p:nvPr/>
        </p:nvCxnSpPr>
        <p:spPr>
          <a:xfrm>
            <a:off x="6376592" y="2907169"/>
            <a:ext cx="45880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536C84B-431A-560D-53F7-FF36B543CC6D}"/>
              </a:ext>
            </a:extLst>
          </p:cNvPr>
          <p:cNvCxnSpPr/>
          <p:nvPr/>
        </p:nvCxnSpPr>
        <p:spPr>
          <a:xfrm>
            <a:off x="6376592" y="4098515"/>
            <a:ext cx="45880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D06CB51A-CA07-84C9-2244-8379A5F32051}"/>
              </a:ext>
            </a:extLst>
          </p:cNvPr>
          <p:cNvPicPr>
            <a:picLocks noChangeAspect="1"/>
          </p:cNvPicPr>
          <p:nvPr/>
        </p:nvPicPr>
        <p:blipFill>
          <a:blip r:embed="rId6"/>
          <a:stretch>
            <a:fillRect/>
          </a:stretch>
        </p:blipFill>
        <p:spPr>
          <a:xfrm>
            <a:off x="658368" y="1617926"/>
            <a:ext cx="5252902" cy="4226628"/>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5A3C441-53C6-D4B5-9626-9A50ECC86A9A}"/>
                  </a:ext>
                </a:extLst>
              </p:cNvPr>
              <p:cNvSpPr txBox="1"/>
              <p:nvPr/>
            </p:nvSpPr>
            <p:spPr>
              <a:xfrm>
                <a:off x="499795" y="6340929"/>
                <a:ext cx="11192410" cy="338554"/>
              </a:xfrm>
              <a:prstGeom prst="rect">
                <a:avLst/>
              </a:prstGeom>
              <a:noFill/>
            </p:spPr>
            <p:txBody>
              <a:bodyPr wrap="square" rtlCol="0">
                <a:spAutoFit/>
              </a:bodyPr>
              <a:lstStyle/>
              <a:p>
                <a:r>
                  <a:rPr lang="en-GB" sz="1600" dirty="0"/>
                  <a:t>N</a:t>
                </a:r>
                <a:r>
                  <a:rPr lang="en-IT" sz="1600" dirty="0"/>
                  <a:t>ota: il </a:t>
                </a:r>
                <a14:m>
                  <m:oMath xmlns:m="http://schemas.openxmlformats.org/officeDocument/2006/math">
                    <m:r>
                      <a:rPr lang="en-IT" sz="1600" b="0" i="1">
                        <a:latin typeface="Cambria Math" panose="02040503050406030204" pitchFamily="18" charset="0"/>
                        <a:ea typeface="Cambria Math" panose="02040503050406030204" pitchFamily="18" charset="0"/>
                      </a:rPr>
                      <m:t>𝜒</m:t>
                    </m:r>
                    <m:r>
                      <a:rPr lang="it-IT" sz="1600" b="0" i="1" baseline="30000">
                        <a:latin typeface="Cambria Math" panose="02040503050406030204" pitchFamily="18" charset="0"/>
                        <a:ea typeface="Cambria Math" panose="02040503050406030204" pitchFamily="18" charset="0"/>
                      </a:rPr>
                      <m:t>2</m:t>
                    </m:r>
                    <m:r>
                      <a:rPr lang="it-IT" sz="1600" b="0" i="1" baseline="30000" smtClean="0">
                        <a:latin typeface="Cambria Math" panose="02040503050406030204" pitchFamily="18" charset="0"/>
                        <a:ea typeface="Cambria Math" panose="02040503050406030204" pitchFamily="18" charset="0"/>
                      </a:rPr>
                      <m:t> </m:t>
                    </m:r>
                  </m:oMath>
                </a14:m>
                <a:r>
                  <a:rPr lang="en-IT" sz="1600" dirty="0"/>
                  <a:t>mostrato è scalato di un fattore 10</a:t>
                </a:r>
                <a:r>
                  <a:rPr lang="en-IT" sz="1600" baseline="30000" dirty="0"/>
                  <a:t>40</a:t>
                </a:r>
                <a:r>
                  <a:rPr lang="en-IT" sz="1600" dirty="0"/>
                  <a:t> . Esso non ha significato statistico in quanto non si è espresso l’errore di V bias e 1/C</a:t>
                </a:r>
                <a:r>
                  <a:rPr lang="en-IT" sz="1600" baseline="30000" dirty="0"/>
                  <a:t>2</a:t>
                </a:r>
              </a:p>
            </p:txBody>
          </p:sp>
        </mc:Choice>
        <mc:Fallback xmlns="">
          <p:sp>
            <p:nvSpPr>
              <p:cNvPr id="6" name="TextBox 5">
                <a:extLst>
                  <a:ext uri="{FF2B5EF4-FFF2-40B4-BE49-F238E27FC236}">
                    <a16:creationId xmlns:a16="http://schemas.microsoft.com/office/drawing/2014/main" id="{E5A3C441-53C6-D4B5-9626-9A50ECC86A9A}"/>
                  </a:ext>
                </a:extLst>
              </p:cNvPr>
              <p:cNvSpPr txBox="1">
                <a:spLocks noRot="1" noChangeAspect="1" noMove="1" noResize="1" noEditPoints="1" noAdjustHandles="1" noChangeArrowheads="1" noChangeShapeType="1" noTextEdit="1"/>
              </p:cNvSpPr>
              <p:nvPr/>
            </p:nvSpPr>
            <p:spPr>
              <a:xfrm>
                <a:off x="499795" y="6340929"/>
                <a:ext cx="11192410" cy="338554"/>
              </a:xfrm>
              <a:prstGeom prst="rect">
                <a:avLst/>
              </a:prstGeom>
              <a:blipFill>
                <a:blip r:embed="rId7"/>
                <a:stretch>
                  <a:fillRect l="-340" t="-10714" b="-17857"/>
                </a:stretch>
              </a:blipFill>
            </p:spPr>
            <p:txBody>
              <a:bodyPr/>
              <a:lstStyle/>
              <a:p>
                <a:r>
                  <a:rPr lang="en-IT">
                    <a:noFill/>
                  </a:rPr>
                  <a:t> </a:t>
                </a:r>
              </a:p>
            </p:txBody>
          </p:sp>
        </mc:Fallback>
      </mc:AlternateContent>
    </p:spTree>
    <p:extLst>
      <p:ext uri="{BB962C8B-B14F-4D97-AF65-F5344CB8AC3E}">
        <p14:creationId xmlns:p14="http://schemas.microsoft.com/office/powerpoint/2010/main" val="3501840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D8955C-7418-23B1-7D1F-E8E3F51E51F4}"/>
                  </a:ext>
                </a:extLst>
              </p:cNvPr>
              <p:cNvSpPr>
                <a:spLocks noGrp="1"/>
              </p:cNvSpPr>
              <p:nvPr>
                <p:ph idx="1"/>
              </p:nvPr>
            </p:nvSpPr>
            <p:spPr>
              <a:xfrm>
                <a:off x="579120" y="1589532"/>
                <a:ext cx="10692384" cy="4884420"/>
              </a:xfrm>
            </p:spPr>
            <p:txBody>
              <a:bodyPr>
                <a:normAutofit/>
              </a:bodyPr>
              <a:lstStyle/>
              <a:p>
                <a:r>
                  <a:rPr lang="en-IT" sz="2000" dirty="0"/>
                  <a:t>I range (15%-40) e (50%-75%)  sono quelli che presentano il valore medio di </a:t>
                </a:r>
                <a14:m>
                  <m:oMath xmlns:m="http://schemas.openxmlformats.org/officeDocument/2006/math">
                    <m:r>
                      <a:rPr lang="en-IT" sz="2000" b="0" i="1">
                        <a:latin typeface="Cambria Math" panose="02040503050406030204" pitchFamily="18" charset="0"/>
                        <a:ea typeface="Cambria Math" panose="02040503050406030204" pitchFamily="18" charset="0"/>
                      </a:rPr>
                      <m:t>𝜒</m:t>
                    </m:r>
                    <m:r>
                      <a:rPr lang="it-IT" sz="2000" b="0" i="1" baseline="30000">
                        <a:latin typeface="Cambria Math" panose="02040503050406030204" pitchFamily="18" charset="0"/>
                        <a:ea typeface="Cambria Math" panose="02040503050406030204" pitchFamily="18" charset="0"/>
                      </a:rPr>
                      <m:t>2</m:t>
                    </m:r>
                    <m:r>
                      <a:rPr lang="it-IT" sz="2000" b="0" i="1" baseline="30000" smtClean="0">
                        <a:latin typeface="Cambria Math" panose="02040503050406030204" pitchFamily="18" charset="0"/>
                        <a:ea typeface="Cambria Math" panose="02040503050406030204" pitchFamily="18" charset="0"/>
                      </a:rPr>
                      <m:t> </m:t>
                    </m:r>
                  </m:oMath>
                </a14:m>
                <a:r>
                  <a:rPr lang="en-IT" sz="2000" dirty="0"/>
                  <a:t>  e RMSE maggiore.  </a:t>
                </a:r>
              </a:p>
              <a:p>
                <a:r>
                  <a:rPr lang="en-IT" sz="2000" dirty="0"/>
                  <a:t>Il range (40%-65%) è invece quello che presenta minor </a:t>
                </a:r>
                <a14:m>
                  <m:oMath xmlns:m="http://schemas.openxmlformats.org/officeDocument/2006/math">
                    <m:r>
                      <a:rPr lang="en-IT" sz="2000" i="1">
                        <a:latin typeface="Cambria Math" panose="02040503050406030204" pitchFamily="18" charset="0"/>
                        <a:ea typeface="Cambria Math" panose="02040503050406030204" pitchFamily="18" charset="0"/>
                      </a:rPr>
                      <m:t>𝜒</m:t>
                    </m:r>
                    <m:r>
                      <a:rPr lang="it-IT" sz="2000" i="1" baseline="30000">
                        <a:latin typeface="Cambria Math" panose="02040503050406030204" pitchFamily="18" charset="0"/>
                        <a:ea typeface="Cambria Math" panose="02040503050406030204" pitchFamily="18" charset="0"/>
                      </a:rPr>
                      <m:t>2</m:t>
                    </m:r>
                  </m:oMath>
                </a14:m>
                <a:r>
                  <a:rPr lang="en-IT" sz="2000" dirty="0"/>
                  <a:t> e minor RMSE.</a:t>
                </a:r>
              </a:p>
              <a:p>
                <a:r>
                  <a:rPr lang="en-IT" sz="2000" dirty="0"/>
                  <a:t>Il range (25%-50%), infine, presenta valori abbastanza simili a (40%-65%). Si potrebbe pensare di studiare cosa succede cosiderando un range di uguale ampiezza a cavallo fra questi due. </a:t>
                </a:r>
                <a:br>
                  <a:rPr lang="en-IT" sz="2000" dirty="0"/>
                </a:br>
                <a:endParaRPr lang="en-IT" sz="2000" dirty="0"/>
              </a:p>
              <a:p>
                <a:r>
                  <a:rPr lang="en-IT" sz="2000" dirty="0"/>
                  <a:t>Si nota inoltre che la sigma dei valori di V_gl ottenuti, sebbene rimanga circa la stessa, è crescente allo spostarsi dell’intervallo considerato verso verso range a V_bias piu alti.  Potrebbe essere dovuto al fatto che, allontanandosi dall’intersezione fra le rette, gli errori sulla stima dei coefficienti angolari associati a sensori diversi si traduono in una variazione di intercetta maggiore rispetto ai fit piu vicini al punto da estrapolare.</a:t>
                </a:r>
              </a:p>
              <a:p>
                <a:r>
                  <a:rPr lang="en-IT" sz="2000" dirty="0"/>
                  <a:t>Il valore di V</a:t>
                </a:r>
                <a:r>
                  <a:rPr lang="en-IT" sz="2000" baseline="-25000" dirty="0"/>
                  <a:t>gl</a:t>
                </a:r>
                <a:r>
                  <a:rPr lang="en-IT" sz="2000" dirty="0"/>
                  <a:t>, come sapevamo, decresce quando considero range a V</a:t>
                </a:r>
                <a:r>
                  <a:rPr lang="en-IT" sz="2000" baseline="-25000" dirty="0"/>
                  <a:t>bias</a:t>
                </a:r>
                <a:r>
                  <a:rPr lang="en-IT" sz="2000" dirty="0"/>
                  <a:t> piu alti.</a:t>
                </a:r>
              </a:p>
            </p:txBody>
          </p:sp>
        </mc:Choice>
        <mc:Fallback xmlns="">
          <p:sp>
            <p:nvSpPr>
              <p:cNvPr id="3" name="Content Placeholder 2">
                <a:extLst>
                  <a:ext uri="{FF2B5EF4-FFF2-40B4-BE49-F238E27FC236}">
                    <a16:creationId xmlns:a16="http://schemas.microsoft.com/office/drawing/2014/main" id="{3DD8955C-7418-23B1-7D1F-E8E3F51E51F4}"/>
                  </a:ext>
                </a:extLst>
              </p:cNvPr>
              <p:cNvSpPr>
                <a:spLocks noGrp="1" noRot="1" noChangeAspect="1" noMove="1" noResize="1" noEditPoints="1" noAdjustHandles="1" noChangeArrowheads="1" noChangeShapeType="1" noTextEdit="1"/>
              </p:cNvSpPr>
              <p:nvPr>
                <p:ph idx="1"/>
              </p:nvPr>
            </p:nvSpPr>
            <p:spPr>
              <a:xfrm>
                <a:off x="579120" y="1589532"/>
                <a:ext cx="10692384" cy="4884420"/>
              </a:xfrm>
              <a:blipFill>
                <a:blip r:embed="rId2"/>
                <a:stretch>
                  <a:fillRect l="-474" t="-1039" r="-1186"/>
                </a:stretch>
              </a:blipFill>
            </p:spPr>
            <p:txBody>
              <a:bodyPr/>
              <a:lstStyle/>
              <a:p>
                <a:r>
                  <a:rPr lang="en-IT">
                    <a:noFill/>
                  </a:rPr>
                  <a:t> </a:t>
                </a:r>
              </a:p>
            </p:txBody>
          </p:sp>
        </mc:Fallback>
      </mc:AlternateContent>
      <p:sp>
        <p:nvSpPr>
          <p:cNvPr id="6" name="Title 1">
            <a:extLst>
              <a:ext uri="{FF2B5EF4-FFF2-40B4-BE49-F238E27FC236}">
                <a16:creationId xmlns:a16="http://schemas.microsoft.com/office/drawing/2014/main" id="{DBFC4569-C64B-7C4E-61F4-7DD754D2794E}"/>
              </a:ext>
            </a:extLst>
          </p:cNvPr>
          <p:cNvSpPr>
            <a:spLocks noGrp="1"/>
          </p:cNvSpPr>
          <p:nvPr>
            <p:ph type="title"/>
          </p:nvPr>
        </p:nvSpPr>
        <p:spPr>
          <a:xfrm>
            <a:off x="2292096" y="109409"/>
            <a:ext cx="7388352" cy="1048831"/>
          </a:xfrm>
        </p:spPr>
        <p:txBody>
          <a:bodyPr/>
          <a:lstStyle/>
          <a:p>
            <a:r>
              <a:rPr lang="en-IT" dirty="0"/>
              <a:t>4 range: Conclusioni</a:t>
            </a:r>
          </a:p>
        </p:txBody>
      </p:sp>
    </p:spTree>
    <p:extLst>
      <p:ext uri="{BB962C8B-B14F-4D97-AF65-F5344CB8AC3E}">
        <p14:creationId xmlns:p14="http://schemas.microsoft.com/office/powerpoint/2010/main" val="3950861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3C8DE-9B6E-56AC-5731-197A321E18B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60B319-AE4B-C133-677A-1632D46F4627}"/>
              </a:ext>
            </a:extLst>
          </p:cNvPr>
          <p:cNvSpPr>
            <a:spLocks noGrp="1"/>
          </p:cNvSpPr>
          <p:nvPr>
            <p:ph idx="1"/>
          </p:nvPr>
        </p:nvSpPr>
        <p:spPr>
          <a:xfrm>
            <a:off x="1458310" y="1058193"/>
            <a:ext cx="9363456" cy="1080516"/>
          </a:xfrm>
        </p:spPr>
        <p:txBody>
          <a:bodyPr>
            <a:normAutofit/>
          </a:bodyPr>
          <a:lstStyle/>
          <a:p>
            <a:r>
              <a:rPr lang="en-IT" dirty="0"/>
              <a:t>Provo a vedere cosa succede se considero un range del 25% compreso fra i precedenti due range del (25%-50%) e del (40%-65%). I risultati sono:</a:t>
            </a:r>
          </a:p>
        </p:txBody>
      </p:sp>
      <p:sp>
        <p:nvSpPr>
          <p:cNvPr id="6" name="Title 1">
            <a:extLst>
              <a:ext uri="{FF2B5EF4-FFF2-40B4-BE49-F238E27FC236}">
                <a16:creationId xmlns:a16="http://schemas.microsoft.com/office/drawing/2014/main" id="{7F85A01C-9033-E4D5-CD45-1BBCC3F8277F}"/>
              </a:ext>
            </a:extLst>
          </p:cNvPr>
          <p:cNvSpPr>
            <a:spLocks noGrp="1"/>
          </p:cNvSpPr>
          <p:nvPr>
            <p:ph type="title"/>
          </p:nvPr>
        </p:nvSpPr>
        <p:spPr>
          <a:xfrm>
            <a:off x="2231136" y="121159"/>
            <a:ext cx="7644384" cy="627478"/>
          </a:xfrm>
        </p:spPr>
        <p:txBody>
          <a:bodyPr>
            <a:normAutofit fontScale="90000"/>
          </a:bodyPr>
          <a:lstStyle/>
          <a:p>
            <a:r>
              <a:rPr lang="en-IT" dirty="0"/>
              <a:t>Range 32%-57%</a:t>
            </a:r>
          </a:p>
        </p:txBody>
      </p:sp>
      <p:pic>
        <p:nvPicPr>
          <p:cNvPr id="2" name="Picture 1">
            <a:extLst>
              <a:ext uri="{FF2B5EF4-FFF2-40B4-BE49-F238E27FC236}">
                <a16:creationId xmlns:a16="http://schemas.microsoft.com/office/drawing/2014/main" id="{E6301266-8E1E-7E44-768C-0D843F0D89C9}"/>
              </a:ext>
            </a:extLst>
          </p:cNvPr>
          <p:cNvPicPr>
            <a:picLocks noChangeAspect="1"/>
          </p:cNvPicPr>
          <p:nvPr/>
        </p:nvPicPr>
        <p:blipFill>
          <a:blip r:embed="rId3"/>
          <a:stretch>
            <a:fillRect/>
          </a:stretch>
        </p:blipFill>
        <p:spPr>
          <a:xfrm>
            <a:off x="1128608" y="2042864"/>
            <a:ext cx="4765467" cy="3341510"/>
          </a:xfrm>
          <a:prstGeom prst="rect">
            <a:avLst/>
          </a:prstGeom>
        </p:spPr>
      </p:pic>
      <p:sp>
        <p:nvSpPr>
          <p:cNvPr id="4" name="Content Placeholder 2">
            <a:extLst>
              <a:ext uri="{FF2B5EF4-FFF2-40B4-BE49-F238E27FC236}">
                <a16:creationId xmlns:a16="http://schemas.microsoft.com/office/drawing/2014/main" id="{C0AD9109-3492-4701-6A01-55DD05916D0D}"/>
              </a:ext>
            </a:extLst>
          </p:cNvPr>
          <p:cNvSpPr txBox="1">
            <a:spLocks/>
          </p:cNvSpPr>
          <p:nvPr/>
        </p:nvSpPr>
        <p:spPr>
          <a:xfrm>
            <a:off x="6096000" y="1963472"/>
            <a:ext cx="4697748" cy="706289"/>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T" sz="1600" dirty="0"/>
              <a:t>Il numero medio di punti utilizzati per il fit  nella regione di bulk è: </a:t>
            </a:r>
          </a:p>
        </p:txBody>
      </p:sp>
      <p:sp>
        <p:nvSpPr>
          <p:cNvPr id="5" name="TextBox 4">
            <a:extLst>
              <a:ext uri="{FF2B5EF4-FFF2-40B4-BE49-F238E27FC236}">
                <a16:creationId xmlns:a16="http://schemas.microsoft.com/office/drawing/2014/main" id="{76D50668-0BB4-6AF7-8C0F-3BC00F6D06E2}"/>
              </a:ext>
            </a:extLst>
          </p:cNvPr>
          <p:cNvSpPr txBox="1"/>
          <p:nvPr/>
        </p:nvSpPr>
        <p:spPr>
          <a:xfrm>
            <a:off x="6365644" y="2534497"/>
            <a:ext cx="1063112" cy="400110"/>
          </a:xfrm>
          <a:prstGeom prst="rect">
            <a:avLst/>
          </a:prstGeom>
          <a:noFill/>
        </p:spPr>
        <p:txBody>
          <a:bodyPr wrap="none" rtlCol="0">
            <a:spAutoFit/>
          </a:bodyPr>
          <a:lstStyle/>
          <a:p>
            <a:r>
              <a:rPr lang="en-IT" sz="2000" b="1" dirty="0"/>
              <a:t>N= </a:t>
            </a:r>
            <a:r>
              <a:rPr lang="en-IT" b="1" dirty="0"/>
              <a:t>9.63</a:t>
            </a:r>
          </a:p>
        </p:txBody>
      </p:sp>
      <p:sp>
        <p:nvSpPr>
          <p:cNvPr id="7" name="TextBox 6">
            <a:extLst>
              <a:ext uri="{FF2B5EF4-FFF2-40B4-BE49-F238E27FC236}">
                <a16:creationId xmlns:a16="http://schemas.microsoft.com/office/drawing/2014/main" id="{D8B759DA-B750-E28D-256E-9C5DBFD039E5}"/>
              </a:ext>
            </a:extLst>
          </p:cNvPr>
          <p:cNvSpPr txBox="1"/>
          <p:nvPr/>
        </p:nvSpPr>
        <p:spPr>
          <a:xfrm>
            <a:off x="7954258" y="2608210"/>
            <a:ext cx="2646878" cy="276999"/>
          </a:xfrm>
          <a:prstGeom prst="rect">
            <a:avLst/>
          </a:prstGeom>
          <a:noFill/>
        </p:spPr>
        <p:txBody>
          <a:bodyPr wrap="none" rtlCol="0">
            <a:spAutoFit/>
          </a:bodyPr>
          <a:lstStyle/>
          <a:p>
            <a:r>
              <a:rPr lang="en-IT" sz="1200" dirty="0"/>
              <a:t>con un minimo di 8 e un massimo di 11</a:t>
            </a:r>
          </a:p>
        </p:txBody>
      </p:sp>
      <p:sp>
        <p:nvSpPr>
          <p:cNvPr id="8" name="Content Placeholder 2">
            <a:extLst>
              <a:ext uri="{FF2B5EF4-FFF2-40B4-BE49-F238E27FC236}">
                <a16:creationId xmlns:a16="http://schemas.microsoft.com/office/drawing/2014/main" id="{9AEB9B71-E8A0-9F05-2522-FFE3D25C8560}"/>
              </a:ext>
            </a:extLst>
          </p:cNvPr>
          <p:cNvSpPr txBox="1">
            <a:spLocks/>
          </p:cNvSpPr>
          <p:nvPr/>
        </p:nvSpPr>
        <p:spPr>
          <a:xfrm>
            <a:off x="6096000" y="3081242"/>
            <a:ext cx="4697748" cy="51214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T" sz="1600" dirty="0"/>
              <a:t>Chi^2 ridotto medio:</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FBC05AAA-AE68-0389-4291-9B8FE00808F6}"/>
                  </a:ext>
                </a:extLst>
              </p:cNvPr>
              <p:cNvSpPr txBox="1"/>
              <p:nvPr/>
            </p:nvSpPr>
            <p:spPr>
              <a:xfrm>
                <a:off x="6365644" y="3390792"/>
                <a:ext cx="1677062" cy="338554"/>
              </a:xfrm>
              <a:prstGeom prst="rect">
                <a:avLst/>
              </a:prstGeom>
              <a:noFill/>
            </p:spPr>
            <p:txBody>
              <a:bodyPr wrap="none" rtlCol="0">
                <a:spAutoFit/>
              </a:bodyPr>
              <a:lstStyle/>
              <a:p>
                <a14:m>
                  <m:oMath xmlns:m="http://schemas.openxmlformats.org/officeDocument/2006/math">
                    <m:r>
                      <a:rPr lang="en-IT" sz="1600" b="1" i="1">
                        <a:latin typeface="Cambria Math" panose="02040503050406030204" pitchFamily="18" charset="0"/>
                        <a:ea typeface="Cambria Math" panose="02040503050406030204" pitchFamily="18" charset="0"/>
                      </a:rPr>
                      <m:t>𝝌</m:t>
                    </m:r>
                    <m:r>
                      <a:rPr lang="it-IT" sz="1600" b="1" i="1" baseline="30000">
                        <a:latin typeface="Cambria Math" panose="02040503050406030204" pitchFamily="18" charset="0"/>
                        <a:ea typeface="Cambria Math" panose="02040503050406030204" pitchFamily="18" charset="0"/>
                      </a:rPr>
                      <m:t>𝟐</m:t>
                    </m:r>
                  </m:oMath>
                </a14:m>
                <a:r>
                  <a:rPr lang="en-IT" sz="1600" b="1" dirty="0"/>
                  <a:t>_mean = 8.08</a:t>
                </a:r>
              </a:p>
            </p:txBody>
          </p:sp>
        </mc:Choice>
        <mc:Fallback>
          <p:sp>
            <p:nvSpPr>
              <p:cNvPr id="9" name="TextBox 8">
                <a:extLst>
                  <a:ext uri="{FF2B5EF4-FFF2-40B4-BE49-F238E27FC236}">
                    <a16:creationId xmlns:a16="http://schemas.microsoft.com/office/drawing/2014/main" id="{FBC05AAA-AE68-0389-4291-9B8FE00808F6}"/>
                  </a:ext>
                </a:extLst>
              </p:cNvPr>
              <p:cNvSpPr txBox="1">
                <a:spLocks noRot="1" noChangeAspect="1" noMove="1" noResize="1" noEditPoints="1" noAdjustHandles="1" noChangeArrowheads="1" noChangeShapeType="1" noTextEdit="1"/>
              </p:cNvSpPr>
              <p:nvPr/>
            </p:nvSpPr>
            <p:spPr>
              <a:xfrm>
                <a:off x="6365644" y="3390792"/>
                <a:ext cx="1677062" cy="338554"/>
              </a:xfrm>
              <a:prstGeom prst="rect">
                <a:avLst/>
              </a:prstGeom>
              <a:blipFill>
                <a:blip r:embed="rId4"/>
                <a:stretch>
                  <a:fillRect t="-3571" r="-752" b="-21429"/>
                </a:stretch>
              </a:blipFill>
            </p:spPr>
            <p:txBody>
              <a:bodyPr/>
              <a:lstStyle/>
              <a:p>
                <a:r>
                  <a:rPr lang="en-IT">
                    <a:noFill/>
                  </a:rPr>
                  <a:t> </a:t>
                </a:r>
              </a:p>
            </p:txBody>
          </p:sp>
        </mc:Fallback>
      </mc:AlternateContent>
      <p:sp>
        <p:nvSpPr>
          <p:cNvPr id="10" name="Content Placeholder 2">
            <a:extLst>
              <a:ext uri="{FF2B5EF4-FFF2-40B4-BE49-F238E27FC236}">
                <a16:creationId xmlns:a16="http://schemas.microsoft.com/office/drawing/2014/main" id="{F8EFF470-9FBA-B53C-061C-46B9D6E64378}"/>
              </a:ext>
            </a:extLst>
          </p:cNvPr>
          <p:cNvSpPr txBox="1">
            <a:spLocks/>
          </p:cNvSpPr>
          <p:nvPr/>
        </p:nvSpPr>
        <p:spPr>
          <a:xfrm>
            <a:off x="6365644" y="4297404"/>
            <a:ext cx="4697748" cy="51214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latinLnBrk="1">
              <a:buNone/>
            </a:pPr>
            <a:endParaRPr lang="en-IT" sz="1600" dirty="0"/>
          </a:p>
        </p:txBody>
      </p:sp>
      <p:sp>
        <p:nvSpPr>
          <p:cNvPr id="11" name="Content Placeholder 2">
            <a:extLst>
              <a:ext uri="{FF2B5EF4-FFF2-40B4-BE49-F238E27FC236}">
                <a16:creationId xmlns:a16="http://schemas.microsoft.com/office/drawing/2014/main" id="{3D4A1323-D228-D4EF-045D-FCFC3D27334A}"/>
              </a:ext>
            </a:extLst>
          </p:cNvPr>
          <p:cNvSpPr txBox="1">
            <a:spLocks/>
          </p:cNvSpPr>
          <p:nvPr/>
        </p:nvSpPr>
        <p:spPr>
          <a:xfrm>
            <a:off x="6096000" y="3555392"/>
            <a:ext cx="4697748" cy="93478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latinLnBrk="1">
              <a:buNone/>
            </a:pPr>
            <a:endParaRPr lang="en-IT" sz="1600" dirty="0"/>
          </a:p>
          <a:p>
            <a:pPr latinLnBrk="1"/>
            <a:r>
              <a:rPr lang="en-IT" sz="1600" dirty="0"/>
              <a:t>Scarto quadratico medio:</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7F4C87A-8CF3-0A7D-84C0-EC04FA1D4B65}"/>
                  </a:ext>
                </a:extLst>
              </p:cNvPr>
              <p:cNvSpPr txBox="1"/>
              <p:nvPr/>
            </p:nvSpPr>
            <p:spPr>
              <a:xfrm>
                <a:off x="6307461" y="4247598"/>
                <a:ext cx="3293594" cy="584775"/>
              </a:xfrm>
              <a:prstGeom prst="rect">
                <a:avLst/>
              </a:prstGeom>
              <a:noFill/>
            </p:spPr>
            <p:txBody>
              <a:bodyPr wrap="none" rtlCol="0">
                <a:spAutoFit/>
              </a:bodyPr>
              <a:lstStyle/>
              <a:p>
                <a:pPr latinLnBrk="1"/>
                <a:r>
                  <a:rPr lang="en-IT" sz="1600" b="1" dirty="0"/>
                  <a:t>RMSE medio = 0.241</a:t>
                </a:r>
                <a14:m>
                  <m:oMath xmlns:m="http://schemas.openxmlformats.org/officeDocument/2006/math">
                    <m:r>
                      <a:rPr lang="en-IT" sz="1600" b="1" i="1" smtClean="0">
                        <a:latin typeface="Cambria Math" panose="02040503050406030204" pitchFamily="18" charset="0"/>
                        <a:ea typeface="Cambria Math" panose="02040503050406030204" pitchFamily="18" charset="0"/>
                      </a:rPr>
                      <m:t>∙</m:t>
                    </m:r>
                    <m:r>
                      <a:rPr lang="it-IT" sz="1600" b="1" i="1" smtClean="0">
                        <a:latin typeface="Cambria Math" panose="02040503050406030204" pitchFamily="18" charset="0"/>
                        <a:ea typeface="Cambria Math" panose="02040503050406030204" pitchFamily="18" charset="0"/>
                      </a:rPr>
                      <m:t>𝟏𝟎</m:t>
                    </m:r>
                    <m:r>
                      <a:rPr lang="it-IT" sz="1600" b="1" i="1" baseline="30000" smtClean="0">
                        <a:latin typeface="Cambria Math" panose="02040503050406030204" pitchFamily="18" charset="0"/>
                        <a:ea typeface="Cambria Math" panose="02040503050406030204" pitchFamily="18" charset="0"/>
                      </a:rPr>
                      <m:t>𝟐𝟏</m:t>
                    </m:r>
                  </m:oMath>
                </a14:m>
                <a:r>
                  <a:rPr lang="en-IT" sz="1600" b="1" dirty="0"/>
                  <a:t> [1/F</a:t>
                </a:r>
                <a:r>
                  <a:rPr lang="en-IT" sz="1600" b="1" baseline="30000" dirty="0"/>
                  <a:t>2</a:t>
                </a:r>
                <a:r>
                  <a:rPr lang="en-IT" sz="1600" b="1" dirty="0"/>
                  <a:t>]</a:t>
                </a:r>
                <a:endParaRPr lang="en-IT" sz="1600" dirty="0"/>
              </a:p>
              <a:p>
                <a:endParaRPr lang="en-IT" sz="1600" dirty="0"/>
              </a:p>
            </p:txBody>
          </p:sp>
        </mc:Choice>
        <mc:Fallback>
          <p:sp>
            <p:nvSpPr>
              <p:cNvPr id="12" name="TextBox 11">
                <a:extLst>
                  <a:ext uri="{FF2B5EF4-FFF2-40B4-BE49-F238E27FC236}">
                    <a16:creationId xmlns:a16="http://schemas.microsoft.com/office/drawing/2014/main" id="{37F4C87A-8CF3-0A7D-84C0-EC04FA1D4B65}"/>
                  </a:ext>
                </a:extLst>
              </p:cNvPr>
              <p:cNvSpPr txBox="1">
                <a:spLocks noRot="1" noChangeAspect="1" noMove="1" noResize="1" noEditPoints="1" noAdjustHandles="1" noChangeArrowheads="1" noChangeShapeType="1" noTextEdit="1"/>
              </p:cNvSpPr>
              <p:nvPr/>
            </p:nvSpPr>
            <p:spPr>
              <a:xfrm>
                <a:off x="6307461" y="4247598"/>
                <a:ext cx="3293594" cy="584775"/>
              </a:xfrm>
              <a:prstGeom prst="rect">
                <a:avLst/>
              </a:prstGeom>
              <a:blipFill>
                <a:blip r:embed="rId5"/>
                <a:stretch>
                  <a:fillRect l="-1154" t="-2128"/>
                </a:stretch>
              </a:blipFill>
            </p:spPr>
            <p:txBody>
              <a:bodyPr/>
              <a:lstStyle/>
              <a:p>
                <a:r>
                  <a:rPr lang="en-IT">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795E30E1-C32A-47C0-6FF2-B2BBF9365060}"/>
                  </a:ext>
                </a:extLst>
              </p:cNvPr>
              <p:cNvSpPr txBox="1"/>
              <p:nvPr/>
            </p:nvSpPr>
            <p:spPr>
              <a:xfrm>
                <a:off x="6307461" y="4589791"/>
                <a:ext cx="3356110" cy="584775"/>
              </a:xfrm>
              <a:prstGeom prst="rect">
                <a:avLst/>
              </a:prstGeom>
              <a:noFill/>
            </p:spPr>
            <p:txBody>
              <a:bodyPr wrap="square">
                <a:spAutoFit/>
              </a:bodyPr>
              <a:lstStyle/>
              <a:p>
                <a:pPr latinLnBrk="1"/>
                <a:r>
                  <a:rPr lang="en-IT" sz="1600" dirty="0"/>
                  <a:t>min = 0.081 </a:t>
                </a:r>
                <a14:m>
                  <m:oMath xmlns:m="http://schemas.openxmlformats.org/officeDocument/2006/math">
                    <m:r>
                      <a:rPr lang="en-IT" sz="1600" b="0" i="1" smtClean="0">
                        <a:latin typeface="Cambria Math" panose="02040503050406030204" pitchFamily="18" charset="0"/>
                        <a:ea typeface="Cambria Math" panose="02040503050406030204" pitchFamily="18" charset="0"/>
                      </a:rPr>
                      <m:t>∙</m:t>
                    </m:r>
                    <m:r>
                      <a:rPr lang="it-IT" sz="1600" b="0" i="1" smtClean="0">
                        <a:latin typeface="Cambria Math" panose="02040503050406030204" pitchFamily="18" charset="0"/>
                        <a:ea typeface="Cambria Math" panose="02040503050406030204" pitchFamily="18" charset="0"/>
                      </a:rPr>
                      <m:t>10</m:t>
                    </m:r>
                    <m:r>
                      <a:rPr lang="it-IT" sz="1600" b="0" i="1" baseline="30000" smtClean="0">
                        <a:latin typeface="Cambria Math" panose="02040503050406030204" pitchFamily="18" charset="0"/>
                        <a:ea typeface="Cambria Math" panose="02040503050406030204" pitchFamily="18" charset="0"/>
                      </a:rPr>
                      <m:t>21</m:t>
                    </m:r>
                  </m:oMath>
                </a14:m>
                <a:r>
                  <a:rPr lang="en-IT" sz="1600" dirty="0"/>
                  <a:t> [1/F</a:t>
                </a:r>
                <a:r>
                  <a:rPr lang="en-IT" sz="1600" baseline="30000" dirty="0"/>
                  <a:t>2</a:t>
                </a:r>
                <a:r>
                  <a:rPr lang="en-IT" sz="1600" dirty="0"/>
                  <a:t>]</a:t>
                </a:r>
              </a:p>
              <a:p>
                <a:pPr latinLnBrk="1"/>
                <a:r>
                  <a:rPr lang="en-IT" sz="1600" dirty="0"/>
                  <a:t>max = 0.443</a:t>
                </a:r>
                <a14:m>
                  <m:oMath xmlns:m="http://schemas.openxmlformats.org/officeDocument/2006/math">
                    <m:r>
                      <a:rPr lang="en-IT" sz="1600" b="0" i="1" smtClean="0">
                        <a:latin typeface="Cambria Math" panose="02040503050406030204" pitchFamily="18" charset="0"/>
                        <a:ea typeface="Cambria Math" panose="02040503050406030204" pitchFamily="18" charset="0"/>
                      </a:rPr>
                      <m:t>∙</m:t>
                    </m:r>
                    <m:r>
                      <a:rPr lang="it-IT" sz="1600" b="0" i="1" smtClean="0">
                        <a:latin typeface="Cambria Math" panose="02040503050406030204" pitchFamily="18" charset="0"/>
                        <a:ea typeface="Cambria Math" panose="02040503050406030204" pitchFamily="18" charset="0"/>
                      </a:rPr>
                      <m:t>10</m:t>
                    </m:r>
                    <m:r>
                      <a:rPr lang="it-IT" sz="1600" b="0" i="1" baseline="30000" smtClean="0">
                        <a:latin typeface="Cambria Math" panose="02040503050406030204" pitchFamily="18" charset="0"/>
                        <a:ea typeface="Cambria Math" panose="02040503050406030204" pitchFamily="18" charset="0"/>
                      </a:rPr>
                      <m:t>21</m:t>
                    </m:r>
                  </m:oMath>
                </a14:m>
                <a:r>
                  <a:rPr lang="en-IT" sz="1600" dirty="0"/>
                  <a:t> [1/F</a:t>
                </a:r>
                <a:r>
                  <a:rPr lang="en-IT" sz="1600" baseline="30000" dirty="0"/>
                  <a:t>2</a:t>
                </a:r>
                <a:r>
                  <a:rPr lang="en-IT" sz="1600" dirty="0"/>
                  <a:t>]</a:t>
                </a:r>
              </a:p>
            </p:txBody>
          </p:sp>
        </mc:Choice>
        <mc:Fallback>
          <p:sp>
            <p:nvSpPr>
              <p:cNvPr id="13" name="TextBox 12">
                <a:extLst>
                  <a:ext uri="{FF2B5EF4-FFF2-40B4-BE49-F238E27FC236}">
                    <a16:creationId xmlns:a16="http://schemas.microsoft.com/office/drawing/2014/main" id="{795E30E1-C32A-47C0-6FF2-B2BBF9365060}"/>
                  </a:ext>
                </a:extLst>
              </p:cNvPr>
              <p:cNvSpPr txBox="1">
                <a:spLocks noRot="1" noChangeAspect="1" noMove="1" noResize="1" noEditPoints="1" noAdjustHandles="1" noChangeArrowheads="1" noChangeShapeType="1" noTextEdit="1"/>
              </p:cNvSpPr>
              <p:nvPr/>
            </p:nvSpPr>
            <p:spPr>
              <a:xfrm>
                <a:off x="6307461" y="4589791"/>
                <a:ext cx="3356110" cy="584775"/>
              </a:xfrm>
              <a:prstGeom prst="rect">
                <a:avLst/>
              </a:prstGeom>
              <a:blipFill>
                <a:blip r:embed="rId6"/>
                <a:stretch>
                  <a:fillRect l="-1132" t="-2128" b="-12766"/>
                </a:stretch>
              </a:blipFill>
            </p:spPr>
            <p:txBody>
              <a:bodyPr/>
              <a:lstStyle/>
              <a:p>
                <a:r>
                  <a:rPr lang="en-IT">
                    <a:noFill/>
                  </a:rPr>
                  <a:t> </a:t>
                </a:r>
              </a:p>
            </p:txBody>
          </p:sp>
        </mc:Fallback>
      </mc:AlternateContent>
      <p:cxnSp>
        <p:nvCxnSpPr>
          <p:cNvPr id="14" name="Straight Connector 13">
            <a:extLst>
              <a:ext uri="{FF2B5EF4-FFF2-40B4-BE49-F238E27FC236}">
                <a16:creationId xmlns:a16="http://schemas.microsoft.com/office/drawing/2014/main" id="{F5AFBDA4-03B2-B454-B546-F00FDB984D11}"/>
              </a:ext>
            </a:extLst>
          </p:cNvPr>
          <p:cNvCxnSpPr/>
          <p:nvPr/>
        </p:nvCxnSpPr>
        <p:spPr>
          <a:xfrm>
            <a:off x="6381322" y="3013752"/>
            <a:ext cx="45880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1F03DC8-4300-0619-0041-88B5D96142FD}"/>
              </a:ext>
            </a:extLst>
          </p:cNvPr>
          <p:cNvCxnSpPr/>
          <p:nvPr/>
        </p:nvCxnSpPr>
        <p:spPr>
          <a:xfrm>
            <a:off x="6420508" y="3813688"/>
            <a:ext cx="45880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864EC97-838A-0F19-55B7-F28B76684DE1}"/>
              </a:ext>
            </a:extLst>
          </p:cNvPr>
          <p:cNvSpPr txBox="1"/>
          <p:nvPr/>
        </p:nvSpPr>
        <p:spPr>
          <a:xfrm>
            <a:off x="8448887" y="3240663"/>
            <a:ext cx="1426633" cy="523220"/>
          </a:xfrm>
          <a:prstGeom prst="rect">
            <a:avLst/>
          </a:prstGeom>
          <a:noFill/>
        </p:spPr>
        <p:txBody>
          <a:bodyPr wrap="square" rtlCol="0">
            <a:spAutoFit/>
          </a:bodyPr>
          <a:lstStyle/>
          <a:p>
            <a:r>
              <a:rPr lang="en-IT" sz="1400" dirty="0"/>
              <a:t> - min = 0.87</a:t>
            </a:r>
          </a:p>
          <a:p>
            <a:r>
              <a:rPr lang="en-IT" sz="1400" dirty="0"/>
              <a:t> - max =26.16</a:t>
            </a: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3769CDDF-7A62-5133-9FD6-CDDFA66BA84C}"/>
                  </a:ext>
                </a:extLst>
              </p:cNvPr>
              <p:cNvSpPr txBox="1"/>
              <p:nvPr/>
            </p:nvSpPr>
            <p:spPr>
              <a:xfrm>
                <a:off x="1085703" y="5717960"/>
                <a:ext cx="10020594" cy="369332"/>
              </a:xfrm>
              <a:prstGeom prst="rect">
                <a:avLst/>
              </a:prstGeom>
              <a:noFill/>
            </p:spPr>
            <p:txBody>
              <a:bodyPr wrap="square" rtlCol="0">
                <a:spAutoFit/>
              </a:bodyPr>
              <a:lstStyle/>
              <a:p>
                <a:r>
                  <a:rPr lang="en-IT" dirty="0"/>
                  <a:t>Si osserva una diminuzione di </a:t>
                </a:r>
                <a14:m>
                  <m:oMath xmlns:m="http://schemas.openxmlformats.org/officeDocument/2006/math">
                    <m:r>
                      <m:rPr>
                        <m:sty m:val="p"/>
                      </m:rPr>
                      <a:rPr lang="en-IT" b="0" i="0">
                        <a:latin typeface="Cambria Math" panose="02040503050406030204" pitchFamily="18" charset="0"/>
                        <a:ea typeface="Cambria Math" panose="02040503050406030204" pitchFamily="18" charset="0"/>
                      </a:rPr>
                      <m:t>χ</m:t>
                    </m:r>
                    <m:r>
                      <a:rPr lang="it-IT" b="0" i="0" baseline="30000">
                        <a:latin typeface="Cambria Math" panose="02040503050406030204" pitchFamily="18" charset="0"/>
                        <a:ea typeface="Cambria Math" panose="02040503050406030204" pitchFamily="18" charset="0"/>
                      </a:rPr>
                      <m:t>2</m:t>
                    </m:r>
                  </m:oMath>
                </a14:m>
                <a:r>
                  <a:rPr lang="en-IT" dirty="0"/>
                  <a:t>_mean e RMSE medio. </a:t>
                </a:r>
              </a:p>
            </p:txBody>
          </p:sp>
        </mc:Choice>
        <mc:Fallback>
          <p:sp>
            <p:nvSpPr>
              <p:cNvPr id="17" name="TextBox 16">
                <a:extLst>
                  <a:ext uri="{FF2B5EF4-FFF2-40B4-BE49-F238E27FC236}">
                    <a16:creationId xmlns:a16="http://schemas.microsoft.com/office/drawing/2014/main" id="{3769CDDF-7A62-5133-9FD6-CDDFA66BA84C}"/>
                  </a:ext>
                </a:extLst>
              </p:cNvPr>
              <p:cNvSpPr txBox="1">
                <a:spLocks noRot="1" noChangeAspect="1" noMove="1" noResize="1" noEditPoints="1" noAdjustHandles="1" noChangeArrowheads="1" noChangeShapeType="1" noTextEdit="1"/>
              </p:cNvSpPr>
              <p:nvPr/>
            </p:nvSpPr>
            <p:spPr>
              <a:xfrm>
                <a:off x="1085703" y="5717960"/>
                <a:ext cx="10020594" cy="369332"/>
              </a:xfrm>
              <a:prstGeom prst="rect">
                <a:avLst/>
              </a:prstGeom>
              <a:blipFill>
                <a:blip r:embed="rId7"/>
                <a:stretch>
                  <a:fillRect l="-506" t="-6667" b="-23333"/>
                </a:stretch>
              </a:blipFill>
            </p:spPr>
            <p:txBody>
              <a:bodyPr/>
              <a:lstStyle/>
              <a:p>
                <a:r>
                  <a:rPr lang="en-IT">
                    <a:noFill/>
                  </a:rPr>
                  <a:t> </a:t>
                </a:r>
              </a:p>
            </p:txBody>
          </p:sp>
        </mc:Fallback>
      </mc:AlternateContent>
    </p:spTree>
    <p:extLst>
      <p:ext uri="{BB962C8B-B14F-4D97-AF65-F5344CB8AC3E}">
        <p14:creationId xmlns:p14="http://schemas.microsoft.com/office/powerpoint/2010/main" val="1627501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EBC9C-12B1-6DA5-FEE2-D80BD9485D4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 name="Content Placeholder 20">
                <a:extLst>
                  <a:ext uri="{FF2B5EF4-FFF2-40B4-BE49-F238E27FC236}">
                    <a16:creationId xmlns:a16="http://schemas.microsoft.com/office/drawing/2014/main" id="{5D219737-AC27-5BB0-907A-C09B1534A644}"/>
                  </a:ext>
                </a:extLst>
              </p:cNvPr>
              <p:cNvSpPr>
                <a:spLocks noGrp="1"/>
              </p:cNvSpPr>
              <p:nvPr>
                <p:ph idx="1"/>
              </p:nvPr>
            </p:nvSpPr>
            <p:spPr>
              <a:xfrm>
                <a:off x="428263" y="4808167"/>
                <a:ext cx="11543818" cy="1503424"/>
              </a:xfrm>
            </p:spPr>
            <p:txBody>
              <a:bodyPr>
                <a:noAutofit/>
              </a:bodyPr>
              <a:lstStyle/>
              <a:p>
                <a:pPr marL="0" indent="0" algn="just">
                  <a:buNone/>
                </a:pPr>
                <a:r>
                  <a:rPr lang="en-IT" dirty="0">
                    <a:solidFill>
                      <a:schemeClr val="tx1">
                        <a:lumMod val="85000"/>
                        <a:lumOff val="15000"/>
                      </a:schemeClr>
                    </a:solidFill>
                  </a:rPr>
                  <a:t>Sebbene l’intervallo </a:t>
                </a:r>
                <a:r>
                  <a:rPr lang="en-IT" b="1" dirty="0">
                    <a:solidFill>
                      <a:schemeClr val="tx1">
                        <a:lumMod val="85000"/>
                        <a:lumOff val="15000"/>
                      </a:schemeClr>
                    </a:solidFill>
                  </a:rPr>
                  <a:t>(40%-65%) </a:t>
                </a:r>
                <a:r>
                  <a:rPr lang="en-IT" dirty="0">
                    <a:solidFill>
                      <a:schemeClr val="tx1">
                        <a:lumMod val="85000"/>
                        <a:lumOff val="15000"/>
                      </a:schemeClr>
                    </a:solidFill>
                  </a:rPr>
                  <a:t>restituisca in media un valore di </a:t>
                </a:r>
                <a14:m>
                  <m:oMath xmlns:m="http://schemas.openxmlformats.org/officeDocument/2006/math">
                    <m:r>
                      <m:rPr>
                        <m:sty m:val="p"/>
                      </m:rPr>
                      <a:rPr lang="en-IT">
                        <a:solidFill>
                          <a:schemeClr val="tx1">
                            <a:lumMod val="85000"/>
                            <a:lumOff val="15000"/>
                          </a:schemeClr>
                        </a:solidFill>
                        <a:latin typeface="Cambria Math" panose="02040503050406030204" pitchFamily="18" charset="0"/>
                        <a:ea typeface="Cambria Math" panose="02040503050406030204" pitchFamily="18" charset="0"/>
                      </a:rPr>
                      <m:t>χ</m:t>
                    </m:r>
                    <m:r>
                      <a:rPr lang="it-IT" baseline="30000">
                        <a:solidFill>
                          <a:schemeClr val="tx1">
                            <a:lumMod val="85000"/>
                            <a:lumOff val="15000"/>
                          </a:schemeClr>
                        </a:solidFill>
                        <a:latin typeface="Cambria Math" panose="02040503050406030204" pitchFamily="18" charset="0"/>
                        <a:ea typeface="Cambria Math" panose="02040503050406030204" pitchFamily="18" charset="0"/>
                      </a:rPr>
                      <m:t>2</m:t>
                    </m:r>
                    <m:r>
                      <a:rPr lang="it-IT" b="0" i="0" baseline="30000" smtClean="0">
                        <a:solidFill>
                          <a:schemeClr val="tx1">
                            <a:lumMod val="85000"/>
                            <a:lumOff val="15000"/>
                          </a:schemeClr>
                        </a:solidFill>
                        <a:latin typeface="Cambria Math" panose="02040503050406030204" pitchFamily="18" charset="0"/>
                        <a:ea typeface="Cambria Math" panose="02040503050406030204" pitchFamily="18" charset="0"/>
                      </a:rPr>
                      <m:t>  </m:t>
                    </m:r>
                  </m:oMath>
                </a14:m>
                <a:r>
                  <a:rPr lang="en-IT" dirty="0">
                    <a:solidFill>
                      <a:schemeClr val="tx1">
                        <a:lumMod val="85000"/>
                        <a:lumOff val="15000"/>
                      </a:schemeClr>
                    </a:solidFill>
                  </a:rPr>
                  <a:t>minore rispetto agli altri due casi di studio, si osserva che in generale si discosta maggiormente dai primi punti della salita.  Anche l’intervallo </a:t>
                </a:r>
                <a:r>
                  <a:rPr lang="en-IT" b="1" dirty="0">
                    <a:solidFill>
                      <a:schemeClr val="tx1">
                        <a:lumMod val="85000"/>
                        <a:lumOff val="15000"/>
                      </a:schemeClr>
                    </a:solidFill>
                  </a:rPr>
                  <a:t>(32%-57%) </a:t>
                </a:r>
                <a:r>
                  <a:rPr lang="en-IT" dirty="0">
                    <a:solidFill>
                      <a:schemeClr val="tx1">
                        <a:lumMod val="85000"/>
                        <a:lumOff val="15000"/>
                      </a:schemeClr>
                    </a:solidFill>
                  </a:rPr>
                  <a:t>si discosta visibilmente con i primi punti della salita, sebbene in misura minore, e il miglioramento in termini di </a:t>
                </a:r>
                <a14:m>
                  <m:oMath xmlns:m="http://schemas.openxmlformats.org/officeDocument/2006/math">
                    <m:r>
                      <a:rPr lang="en-IT" i="1">
                        <a:latin typeface="Cambria Math" panose="02040503050406030204" pitchFamily="18" charset="0"/>
                        <a:ea typeface="Cambria Math" panose="02040503050406030204" pitchFamily="18" charset="0"/>
                      </a:rPr>
                      <m:t>𝜒</m:t>
                    </m:r>
                    <m:r>
                      <a:rPr lang="it-IT" i="1" baseline="30000">
                        <a:latin typeface="Cambria Math" panose="02040503050406030204" pitchFamily="18" charset="0"/>
                        <a:ea typeface="Cambria Math" panose="02040503050406030204" pitchFamily="18" charset="0"/>
                      </a:rPr>
                      <m:t>2</m:t>
                    </m:r>
                  </m:oMath>
                </a14:m>
                <a:r>
                  <a:rPr lang="en-IT" dirty="0">
                    <a:solidFill>
                      <a:schemeClr val="tx1">
                        <a:lumMod val="85000"/>
                        <a:lumOff val="15000"/>
                      </a:schemeClr>
                    </a:solidFill>
                  </a:rPr>
                  <a:t>, seppur presenti, sono molto piccoli. Secondo me, dunque, sarebbe piu opportuno scegliere come intervallo di riferimento </a:t>
                </a:r>
                <a:r>
                  <a:rPr lang="en-IT" b="1" dirty="0">
                    <a:solidFill>
                      <a:schemeClr val="tx1">
                        <a:lumMod val="85000"/>
                        <a:lumOff val="15000"/>
                      </a:schemeClr>
                    </a:solidFill>
                  </a:rPr>
                  <a:t>(25%-50%)</a:t>
                </a:r>
                <a:r>
                  <a:rPr lang="en-IT" dirty="0">
                    <a:solidFill>
                      <a:schemeClr val="tx1">
                        <a:lumMod val="85000"/>
                        <a:lumOff val="15000"/>
                      </a:schemeClr>
                    </a:solidFill>
                  </a:rPr>
                  <a:t>, in quanto rappresenta un buon compromesso tra massima compatibilità con l’andamento lineare e migliore descrizione generale. </a:t>
                </a:r>
                <a:endParaRPr lang="en-IT" baseline="-25000" dirty="0">
                  <a:solidFill>
                    <a:schemeClr val="tx1">
                      <a:lumMod val="85000"/>
                      <a:lumOff val="15000"/>
                    </a:schemeClr>
                  </a:solidFill>
                </a:endParaRPr>
              </a:p>
            </p:txBody>
          </p:sp>
        </mc:Choice>
        <mc:Fallback xmlns="">
          <p:sp>
            <p:nvSpPr>
              <p:cNvPr id="21" name="Content Placeholder 20">
                <a:extLst>
                  <a:ext uri="{FF2B5EF4-FFF2-40B4-BE49-F238E27FC236}">
                    <a16:creationId xmlns:a16="http://schemas.microsoft.com/office/drawing/2014/main" id="{5D219737-AC27-5BB0-907A-C09B1534A644}"/>
                  </a:ext>
                </a:extLst>
              </p:cNvPr>
              <p:cNvSpPr>
                <a:spLocks noGrp="1" noRot="1" noChangeAspect="1" noMove="1" noResize="1" noEditPoints="1" noAdjustHandles="1" noChangeArrowheads="1" noChangeShapeType="1" noTextEdit="1"/>
              </p:cNvSpPr>
              <p:nvPr>
                <p:ph idx="1"/>
              </p:nvPr>
            </p:nvSpPr>
            <p:spPr>
              <a:xfrm>
                <a:off x="428263" y="4808167"/>
                <a:ext cx="11543818" cy="1503424"/>
              </a:xfrm>
              <a:blipFill>
                <a:blip r:embed="rId3"/>
                <a:stretch>
                  <a:fillRect l="-440" t="-1681" r="-440" b="-4202"/>
                </a:stretch>
              </a:blipFill>
            </p:spPr>
            <p:txBody>
              <a:bodyPr/>
              <a:lstStyle/>
              <a:p>
                <a:r>
                  <a:rPr lang="en-IT">
                    <a:noFill/>
                  </a:rPr>
                  <a:t> </a:t>
                </a:r>
              </a:p>
            </p:txBody>
          </p:sp>
        </mc:Fallback>
      </mc:AlternateContent>
      <p:sp>
        <p:nvSpPr>
          <p:cNvPr id="24" name="Title 1">
            <a:extLst>
              <a:ext uri="{FF2B5EF4-FFF2-40B4-BE49-F238E27FC236}">
                <a16:creationId xmlns:a16="http://schemas.microsoft.com/office/drawing/2014/main" id="{2B1BA42B-319C-F11C-217D-2AEF53007632}"/>
              </a:ext>
            </a:extLst>
          </p:cNvPr>
          <p:cNvSpPr>
            <a:spLocks noGrp="1"/>
          </p:cNvSpPr>
          <p:nvPr>
            <p:ph type="title"/>
          </p:nvPr>
        </p:nvSpPr>
        <p:spPr>
          <a:xfrm>
            <a:off x="317570" y="81912"/>
            <a:ext cx="11556858" cy="765400"/>
          </a:xfrm>
        </p:spPr>
        <p:txBody>
          <a:bodyPr vert="horz" lIns="274320" tIns="182880" rIns="274320" bIns="182880" rtlCol="0" anchor="ctr" anchorCtr="1">
            <a:noAutofit/>
          </a:bodyPr>
          <a:lstStyle/>
          <a:p>
            <a:r>
              <a:rPr lang="en-US" sz="2000" dirty="0" err="1"/>
              <a:t>Confronto</a:t>
            </a:r>
            <a:r>
              <a:rPr lang="en-US" sz="2000" dirty="0"/>
              <a:t> </a:t>
            </a:r>
            <a:r>
              <a:rPr lang="en-US" sz="2000" dirty="0" err="1"/>
              <a:t>fra</a:t>
            </a:r>
            <a:r>
              <a:rPr lang="en-US" sz="2000" dirty="0"/>
              <a:t> (25%-50%), (32%-57%),(40%-65%) </a:t>
            </a:r>
            <a:r>
              <a:rPr lang="en-US" sz="2000" dirty="0" err="1"/>
              <a:t>su</a:t>
            </a:r>
            <a:r>
              <a:rPr lang="en-US" sz="2000" dirty="0"/>
              <a:t> uno </a:t>
            </a:r>
            <a:r>
              <a:rPr lang="en-US" sz="2000" dirty="0" err="1"/>
              <a:t>specifico</a:t>
            </a:r>
            <a:r>
              <a:rPr lang="en-US" sz="2000" dirty="0"/>
              <a:t> </a:t>
            </a:r>
            <a:r>
              <a:rPr lang="en-US" sz="2000" dirty="0" err="1"/>
              <a:t>sensore</a:t>
            </a:r>
            <a:endParaRPr lang="en-US" sz="2000" dirty="0"/>
          </a:p>
        </p:txBody>
      </p:sp>
      <p:sp>
        <p:nvSpPr>
          <p:cNvPr id="27" name="TextBox 26">
            <a:extLst>
              <a:ext uri="{FF2B5EF4-FFF2-40B4-BE49-F238E27FC236}">
                <a16:creationId xmlns:a16="http://schemas.microsoft.com/office/drawing/2014/main" id="{766A1459-231C-1241-B04A-26BE1A2EF837}"/>
              </a:ext>
            </a:extLst>
          </p:cNvPr>
          <p:cNvSpPr txBox="1"/>
          <p:nvPr/>
        </p:nvSpPr>
        <p:spPr>
          <a:xfrm>
            <a:off x="9738461" y="916760"/>
            <a:ext cx="1101584" cy="369332"/>
          </a:xfrm>
          <a:prstGeom prst="rect">
            <a:avLst/>
          </a:prstGeom>
          <a:noFill/>
        </p:spPr>
        <p:txBody>
          <a:bodyPr wrap="none" rtlCol="0">
            <a:spAutoFit/>
          </a:bodyPr>
          <a:lstStyle/>
          <a:p>
            <a:r>
              <a:rPr lang="en-IT" b="1" dirty="0"/>
              <a:t>40%-65%</a:t>
            </a:r>
          </a:p>
        </p:txBody>
      </p:sp>
      <p:sp>
        <p:nvSpPr>
          <p:cNvPr id="28" name="TextBox 27">
            <a:extLst>
              <a:ext uri="{FF2B5EF4-FFF2-40B4-BE49-F238E27FC236}">
                <a16:creationId xmlns:a16="http://schemas.microsoft.com/office/drawing/2014/main" id="{B74A2004-967A-6568-84DC-5164ED4EBDC6}"/>
              </a:ext>
            </a:extLst>
          </p:cNvPr>
          <p:cNvSpPr txBox="1"/>
          <p:nvPr/>
        </p:nvSpPr>
        <p:spPr>
          <a:xfrm>
            <a:off x="5545207" y="916760"/>
            <a:ext cx="1101584" cy="369332"/>
          </a:xfrm>
          <a:prstGeom prst="rect">
            <a:avLst/>
          </a:prstGeom>
          <a:noFill/>
        </p:spPr>
        <p:txBody>
          <a:bodyPr wrap="none" rtlCol="0">
            <a:spAutoFit/>
          </a:bodyPr>
          <a:lstStyle/>
          <a:p>
            <a:r>
              <a:rPr lang="en-IT" b="1" dirty="0"/>
              <a:t>32%-57%</a:t>
            </a:r>
          </a:p>
        </p:txBody>
      </p:sp>
      <p:pic>
        <p:nvPicPr>
          <p:cNvPr id="40" name="Picture 39">
            <a:extLst>
              <a:ext uri="{FF2B5EF4-FFF2-40B4-BE49-F238E27FC236}">
                <a16:creationId xmlns:a16="http://schemas.microsoft.com/office/drawing/2014/main" id="{256761BE-6338-09E7-8465-E805D607BA60}"/>
              </a:ext>
            </a:extLst>
          </p:cNvPr>
          <p:cNvPicPr>
            <a:picLocks noChangeAspect="1"/>
          </p:cNvPicPr>
          <p:nvPr/>
        </p:nvPicPr>
        <p:blipFill>
          <a:blip r:embed="rId4"/>
          <a:stretch>
            <a:fillRect/>
          </a:stretch>
        </p:blipFill>
        <p:spPr>
          <a:xfrm>
            <a:off x="4084900" y="1424986"/>
            <a:ext cx="4053550" cy="3244287"/>
          </a:xfrm>
          <a:prstGeom prst="rect">
            <a:avLst/>
          </a:prstGeom>
        </p:spPr>
      </p:pic>
      <p:pic>
        <p:nvPicPr>
          <p:cNvPr id="47" name="Picture 46">
            <a:extLst>
              <a:ext uri="{FF2B5EF4-FFF2-40B4-BE49-F238E27FC236}">
                <a16:creationId xmlns:a16="http://schemas.microsoft.com/office/drawing/2014/main" id="{72545F69-B675-2384-2B72-E8A04B405B1B}"/>
              </a:ext>
            </a:extLst>
          </p:cNvPr>
          <p:cNvPicPr>
            <a:picLocks noChangeAspect="1"/>
          </p:cNvPicPr>
          <p:nvPr/>
        </p:nvPicPr>
        <p:blipFill>
          <a:blip r:embed="rId5"/>
          <a:stretch>
            <a:fillRect/>
          </a:stretch>
        </p:blipFill>
        <p:spPr>
          <a:xfrm>
            <a:off x="8138450" y="1424988"/>
            <a:ext cx="4053550" cy="3244287"/>
          </a:xfrm>
          <a:prstGeom prst="rect">
            <a:avLst/>
          </a:prstGeom>
        </p:spPr>
      </p:pic>
      <p:sp>
        <p:nvSpPr>
          <p:cNvPr id="48" name="TextBox 47">
            <a:extLst>
              <a:ext uri="{FF2B5EF4-FFF2-40B4-BE49-F238E27FC236}">
                <a16:creationId xmlns:a16="http://schemas.microsoft.com/office/drawing/2014/main" id="{468760EE-2D44-FBAB-E0BD-28432E9F16B2}"/>
              </a:ext>
            </a:extLst>
          </p:cNvPr>
          <p:cNvSpPr txBox="1"/>
          <p:nvPr/>
        </p:nvSpPr>
        <p:spPr>
          <a:xfrm>
            <a:off x="1751773" y="916760"/>
            <a:ext cx="1101584" cy="369332"/>
          </a:xfrm>
          <a:prstGeom prst="rect">
            <a:avLst/>
          </a:prstGeom>
          <a:noFill/>
        </p:spPr>
        <p:txBody>
          <a:bodyPr wrap="none" rtlCol="0">
            <a:spAutoFit/>
          </a:bodyPr>
          <a:lstStyle/>
          <a:p>
            <a:r>
              <a:rPr lang="en-IT" b="1" dirty="0"/>
              <a:t>25%-50%</a:t>
            </a:r>
          </a:p>
        </p:txBody>
      </p:sp>
      <p:pic>
        <p:nvPicPr>
          <p:cNvPr id="50" name="Picture 49">
            <a:extLst>
              <a:ext uri="{FF2B5EF4-FFF2-40B4-BE49-F238E27FC236}">
                <a16:creationId xmlns:a16="http://schemas.microsoft.com/office/drawing/2014/main" id="{BE3CFEB3-0ADB-B3CB-3A0C-2806C62CE335}"/>
              </a:ext>
            </a:extLst>
          </p:cNvPr>
          <p:cNvPicPr>
            <a:picLocks noChangeAspect="1"/>
          </p:cNvPicPr>
          <p:nvPr/>
        </p:nvPicPr>
        <p:blipFill>
          <a:blip r:embed="rId6"/>
          <a:stretch>
            <a:fillRect/>
          </a:stretch>
        </p:blipFill>
        <p:spPr>
          <a:xfrm>
            <a:off x="0" y="1424988"/>
            <a:ext cx="4084901" cy="3244287"/>
          </a:xfrm>
          <a:prstGeom prst="rect">
            <a:avLst/>
          </a:prstGeom>
        </p:spPr>
      </p:pic>
      <p:sp>
        <p:nvSpPr>
          <p:cNvPr id="51" name="TextBox 50">
            <a:extLst>
              <a:ext uri="{FF2B5EF4-FFF2-40B4-BE49-F238E27FC236}">
                <a16:creationId xmlns:a16="http://schemas.microsoft.com/office/drawing/2014/main" id="{A21BBAA3-0A02-BC83-2B64-14B53CC5112A}"/>
              </a:ext>
            </a:extLst>
          </p:cNvPr>
          <p:cNvSpPr txBox="1"/>
          <p:nvPr/>
        </p:nvSpPr>
        <p:spPr>
          <a:xfrm>
            <a:off x="404605" y="6406756"/>
            <a:ext cx="9868920" cy="369332"/>
          </a:xfrm>
          <a:prstGeom prst="rect">
            <a:avLst/>
          </a:prstGeom>
          <a:noFill/>
        </p:spPr>
        <p:txBody>
          <a:bodyPr wrap="none" rtlCol="0">
            <a:spAutoFit/>
          </a:bodyPr>
          <a:lstStyle/>
          <a:p>
            <a:r>
              <a:rPr lang="en-IT" dirty="0"/>
              <a:t>Ho preso come riferimento lo stesso LGAD dello scorso report, ma ho testato anche su altri campioni.</a:t>
            </a:r>
          </a:p>
        </p:txBody>
      </p:sp>
    </p:spTree>
    <p:extLst>
      <p:ext uri="{BB962C8B-B14F-4D97-AF65-F5344CB8AC3E}">
        <p14:creationId xmlns:p14="http://schemas.microsoft.com/office/powerpoint/2010/main" val="206150422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1568</TotalTime>
  <Words>1227</Words>
  <Application>Microsoft Macintosh PowerPoint</Application>
  <PresentationFormat>Widescreen</PresentationFormat>
  <Paragraphs>111</Paragraphs>
  <Slides>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Cambria Math</vt:lpstr>
      <vt:lpstr>Gill Sans MT</vt:lpstr>
      <vt:lpstr>Parcel</vt:lpstr>
      <vt:lpstr>Ricerca del miglior range di fitting</vt:lpstr>
      <vt:lpstr>In merito ai casi studio del report precedente</vt:lpstr>
      <vt:lpstr>RANGE 15% - 40% </vt:lpstr>
      <vt:lpstr>RANGE 25% - 50% </vt:lpstr>
      <vt:lpstr>RANGE 40% - 65% </vt:lpstr>
      <vt:lpstr>RANGE 50% - 75% </vt:lpstr>
      <vt:lpstr>4 range: Conclusioni</vt:lpstr>
      <vt:lpstr>Range 32%-57%</vt:lpstr>
      <vt:lpstr>Confronto fra (25%-50%), (32%-57%),(40%-65%) su uno specifico sensore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Palmas</dc:creator>
  <cp:lastModifiedBy>Andrea Palmas</cp:lastModifiedBy>
  <cp:revision>7</cp:revision>
  <dcterms:created xsi:type="dcterms:W3CDTF">2026-10-07T14:28:05Z</dcterms:created>
  <dcterms:modified xsi:type="dcterms:W3CDTF">2026-10-09T14:57:59Z</dcterms:modified>
</cp:coreProperties>
</file>