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8"/>
  </p:notes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93"/>
    <p:restoredTop sz="94691"/>
  </p:normalViewPr>
  <p:slideViewPr>
    <p:cSldViewPr snapToGrid="0">
      <p:cViewPr varScale="1">
        <p:scale>
          <a:sx n="111" d="100"/>
          <a:sy n="111" d="100"/>
        </p:scale>
        <p:origin x="240" y="4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22C26-E222-C84D-BAD5-28C05110B46F}" type="datetimeFigureOut">
              <a:rPr lang="en-IT" smtClean="0"/>
              <a:t>13/10/2026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C4D24F-8281-5548-9FF7-066FCBC7EBE5}" type="slidenum">
              <a:rPr lang="en-IT" smtClean="0"/>
              <a:t>‹#›</a:t>
            </a:fld>
            <a:endParaRPr lang="en-IT"/>
          </a:p>
        </p:txBody>
      </p:sp>
    </p:spTree>
    <p:extLst>
      <p:ext uri="{BB962C8B-B14F-4D97-AF65-F5344CB8AC3E}">
        <p14:creationId xmlns:p14="http://schemas.microsoft.com/office/powerpoint/2010/main" val="2843571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97C4D24F-8281-5548-9FF7-066FCBC7EBE5}" type="slidenum">
              <a:rPr lang="en-IT" smtClean="0"/>
              <a:t>3</a:t>
            </a:fld>
            <a:endParaRPr lang="en-IT"/>
          </a:p>
        </p:txBody>
      </p:sp>
    </p:spTree>
    <p:extLst>
      <p:ext uri="{BB962C8B-B14F-4D97-AF65-F5344CB8AC3E}">
        <p14:creationId xmlns:p14="http://schemas.microsoft.com/office/powerpoint/2010/main" val="1238875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10/13/26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10/13/26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10/13/26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10/13/26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10/13/26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GB"/>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10/13/26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10/13/26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10/13/26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10/13/26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10/13/26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A18F6-79B9-D8A9-60AF-8111E46072DC}"/>
              </a:ext>
            </a:extLst>
          </p:cNvPr>
          <p:cNvSpPr>
            <a:spLocks noGrp="1"/>
          </p:cNvSpPr>
          <p:nvPr>
            <p:ph type="title"/>
          </p:nvPr>
        </p:nvSpPr>
        <p:spPr>
          <a:xfrm>
            <a:off x="2231135" y="355032"/>
            <a:ext cx="7729728" cy="1188720"/>
          </a:xfrm>
        </p:spPr>
        <p:txBody>
          <a:bodyPr/>
          <a:lstStyle/>
          <a:p>
            <a:r>
              <a:rPr lang="en-IT" dirty="0"/>
              <a:t>Differenze fra Le stime di V</a:t>
            </a:r>
            <a:r>
              <a:rPr lang="en-IT" baseline="-25000" dirty="0"/>
              <a:t>gl</a:t>
            </a:r>
          </a:p>
        </p:txBody>
      </p:sp>
      <p:sp>
        <p:nvSpPr>
          <p:cNvPr id="3" name="Content Placeholder 2">
            <a:extLst>
              <a:ext uri="{FF2B5EF4-FFF2-40B4-BE49-F238E27FC236}">
                <a16:creationId xmlns:a16="http://schemas.microsoft.com/office/drawing/2014/main" id="{85579E26-86DC-BAF1-9D09-E3F07E105435}"/>
              </a:ext>
            </a:extLst>
          </p:cNvPr>
          <p:cNvSpPr>
            <a:spLocks noGrp="1"/>
          </p:cNvSpPr>
          <p:nvPr>
            <p:ph idx="1"/>
          </p:nvPr>
        </p:nvSpPr>
        <p:spPr>
          <a:xfrm>
            <a:off x="1760320" y="2148722"/>
            <a:ext cx="8671358" cy="3573030"/>
          </a:xfrm>
        </p:spPr>
        <p:txBody>
          <a:bodyPr>
            <a:noAutofit/>
          </a:bodyPr>
          <a:lstStyle/>
          <a:p>
            <a:pPr algn="ctr"/>
            <a:r>
              <a:rPr lang="en-IT" sz="2400" dirty="0"/>
              <a:t>L’obiettivo è analizzare l’istogramma delle differenze fra i valori di V</a:t>
            </a:r>
            <a:r>
              <a:rPr lang="en-IT" sz="2400" baseline="-25000" dirty="0"/>
              <a:t>GL </a:t>
            </a:r>
            <a:r>
              <a:rPr lang="en-IT" sz="2400" dirty="0"/>
              <a:t>ricavati dall’intercetta dei fit lineari e quelli dichiarati dal produttore. </a:t>
            </a:r>
          </a:p>
          <a:p>
            <a:pPr marL="0" indent="0" algn="ctr">
              <a:buNone/>
            </a:pPr>
            <a:endParaRPr lang="en-IT" sz="2400" dirty="0"/>
          </a:p>
          <a:p>
            <a:pPr algn="ctr"/>
            <a:r>
              <a:rPr lang="en-IT" sz="2400" dirty="0"/>
              <a:t>Si prendono in esami gli intervalli 15%-40% e 25%-50%, siccome si è visto essere quelli che meglio descrivono i punti nei pressi di V</a:t>
            </a:r>
            <a:r>
              <a:rPr lang="en-IT" sz="2400" baseline="-25000" dirty="0"/>
              <a:t>GL.</a:t>
            </a:r>
          </a:p>
        </p:txBody>
      </p:sp>
    </p:spTree>
    <p:extLst>
      <p:ext uri="{BB962C8B-B14F-4D97-AF65-F5344CB8AC3E}">
        <p14:creationId xmlns:p14="http://schemas.microsoft.com/office/powerpoint/2010/main" val="1052050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1F1CB-2D57-6BD6-7943-E9F0589B04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F1A08-89DB-BAAF-6B54-687C85E86734}"/>
              </a:ext>
            </a:extLst>
          </p:cNvPr>
          <p:cNvSpPr>
            <a:spLocks noGrp="1"/>
          </p:cNvSpPr>
          <p:nvPr>
            <p:ph type="title"/>
          </p:nvPr>
        </p:nvSpPr>
        <p:spPr>
          <a:xfrm>
            <a:off x="3062848" y="257062"/>
            <a:ext cx="6237951" cy="668226"/>
          </a:xfrm>
        </p:spPr>
        <p:txBody>
          <a:bodyPr>
            <a:normAutofit fontScale="90000"/>
          </a:bodyPr>
          <a:lstStyle/>
          <a:p>
            <a:r>
              <a:rPr lang="en-IT"/>
              <a:t>15%-40%</a:t>
            </a:r>
            <a:endParaRPr lang="en-IT" baseline="-25000" dirty="0"/>
          </a:p>
        </p:txBody>
      </p:sp>
      <p:pic>
        <p:nvPicPr>
          <p:cNvPr id="8" name="Picture 7">
            <a:extLst>
              <a:ext uri="{FF2B5EF4-FFF2-40B4-BE49-F238E27FC236}">
                <a16:creationId xmlns:a16="http://schemas.microsoft.com/office/drawing/2014/main" id="{F66DC3C5-E445-30FC-1B95-F4D3F7F661FA}"/>
              </a:ext>
            </a:extLst>
          </p:cNvPr>
          <p:cNvPicPr>
            <a:picLocks noChangeAspect="1"/>
          </p:cNvPicPr>
          <p:nvPr/>
        </p:nvPicPr>
        <p:blipFill>
          <a:blip r:embed="rId2"/>
          <a:stretch>
            <a:fillRect/>
          </a:stretch>
        </p:blipFill>
        <p:spPr>
          <a:xfrm>
            <a:off x="14848" y="1194051"/>
            <a:ext cx="6096000" cy="4827250"/>
          </a:xfrm>
          <a:prstGeom prst="rect">
            <a:avLst/>
          </a:prstGeom>
        </p:spPr>
      </p:pic>
      <p:pic>
        <p:nvPicPr>
          <p:cNvPr id="10" name="Picture 9">
            <a:extLst>
              <a:ext uri="{FF2B5EF4-FFF2-40B4-BE49-F238E27FC236}">
                <a16:creationId xmlns:a16="http://schemas.microsoft.com/office/drawing/2014/main" id="{4DCAC987-47F6-9DEE-D7FE-CE46917602B8}"/>
              </a:ext>
            </a:extLst>
          </p:cNvPr>
          <p:cNvPicPr>
            <a:picLocks noChangeAspect="1"/>
          </p:cNvPicPr>
          <p:nvPr/>
        </p:nvPicPr>
        <p:blipFill>
          <a:blip r:embed="rId3"/>
          <a:stretch>
            <a:fillRect/>
          </a:stretch>
        </p:blipFill>
        <p:spPr>
          <a:xfrm>
            <a:off x="6181823" y="1194051"/>
            <a:ext cx="5739773" cy="4827250"/>
          </a:xfrm>
          <a:prstGeom prst="rect">
            <a:avLst/>
          </a:prstGeom>
        </p:spPr>
      </p:pic>
    </p:spTree>
    <p:extLst>
      <p:ext uri="{BB962C8B-B14F-4D97-AF65-F5344CB8AC3E}">
        <p14:creationId xmlns:p14="http://schemas.microsoft.com/office/powerpoint/2010/main" val="3489396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99360-909A-3170-07DC-05B946935CCB}"/>
              </a:ext>
            </a:extLst>
          </p:cNvPr>
          <p:cNvSpPr>
            <a:spLocks noGrp="1"/>
          </p:cNvSpPr>
          <p:nvPr>
            <p:ph type="title"/>
          </p:nvPr>
        </p:nvSpPr>
        <p:spPr>
          <a:xfrm>
            <a:off x="548949" y="153028"/>
            <a:ext cx="5547051" cy="672162"/>
          </a:xfrm>
        </p:spPr>
        <p:txBody>
          <a:bodyPr>
            <a:normAutofit fontScale="90000"/>
          </a:bodyPr>
          <a:lstStyle/>
          <a:p>
            <a:r>
              <a:rPr lang="en-IT" dirty="0"/>
              <a:t>Osservazioni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D4FEE4-FB9E-C78B-682A-3D77916EC39D}"/>
                  </a:ext>
                </a:extLst>
              </p:cNvPr>
              <p:cNvSpPr>
                <a:spLocks noGrp="1"/>
              </p:cNvSpPr>
              <p:nvPr>
                <p:ph idx="1"/>
              </p:nvPr>
            </p:nvSpPr>
            <p:spPr>
              <a:xfrm>
                <a:off x="245536" y="1033136"/>
                <a:ext cx="6153875" cy="5501478"/>
              </a:xfrm>
            </p:spPr>
            <p:txBody>
              <a:bodyPr>
                <a:normAutofit/>
              </a:bodyPr>
              <a:lstStyle/>
              <a:p>
                <a:pPr algn="ctr"/>
                <a:r>
                  <a:rPr lang="en-IT" dirty="0"/>
                  <a:t>Le differenze fra le stime condotti e i valori dichiarati dai produttori sono distribuite con buona approssimazione in modo gaussiano.</a:t>
                </a:r>
              </a:p>
              <a:p>
                <a:pPr algn="ctr"/>
                <a:endParaRPr lang="en-IT" dirty="0"/>
              </a:p>
              <a:p>
                <a:pPr algn="ctr"/>
                <a:r>
                  <a:rPr lang="en-IT" dirty="0"/>
                  <a:t>La somma della media delle differenze e la media dei valori stimati di V</a:t>
                </a:r>
                <a:r>
                  <a:rPr lang="en-IT" baseline="-25000" dirty="0"/>
                  <a:t>GL </a:t>
                </a:r>
                <a:r>
                  <a:rPr lang="en-IT" dirty="0"/>
                  <a:t>restituiscono un valore molto vicino a quello dichiarato dai produttori (figura a destra):</a:t>
                </a:r>
              </a:p>
              <a:p>
                <a:pPr marL="0" indent="0" algn="ctr">
                  <a:buNone/>
                </a:pPr>
                <a:r>
                  <a:rPr lang="en-IT" b="1" dirty="0"/>
                  <a:t>34.82 +  0.08 =  34.90 </a:t>
                </a:r>
                <a14:m>
                  <m:oMath xmlns:m="http://schemas.openxmlformats.org/officeDocument/2006/math">
                    <m:r>
                      <a:rPr lang="en-IT" i="1" smtClean="0">
                        <a:latin typeface="Cambria Math" panose="02040503050406030204" pitchFamily="18" charset="0"/>
                        <a:ea typeface="Cambria Math" panose="02040503050406030204" pitchFamily="18" charset="0"/>
                      </a:rPr>
                      <m:t>⟶</m:t>
                    </m:r>
                  </m:oMath>
                </a14:m>
                <a:r>
                  <a:rPr lang="en-IT" dirty="0"/>
                  <a:t> Molto simile al valore di </a:t>
                </a:r>
                <a:r>
                  <a:rPr lang="en-IT" b="1" u="sng" dirty="0"/>
                  <a:t>34.91</a:t>
                </a:r>
                <a:br>
                  <a:rPr lang="en-IT" b="1" dirty="0"/>
                </a:br>
                <a:endParaRPr lang="en-IT" b="1" dirty="0"/>
              </a:p>
              <a:p>
                <a:pPr marL="0" indent="0" algn="ctr">
                  <a:buNone/>
                </a:pPr>
                <a:r>
                  <a:rPr lang="en-IT" dirty="0"/>
                  <a:t>Questo</a:t>
                </a:r>
                <a:r>
                  <a:rPr lang="en-IT" baseline="-25000" dirty="0"/>
                  <a:t> </a:t>
                </a:r>
                <a:r>
                  <a:rPr lang="en-IT" dirty="0"/>
                  <a:t>significa che c’è comunque coerenza fra i risultati del produttore e quelli ottenuti dai fit lineari.</a:t>
                </a:r>
              </a:p>
              <a:p>
                <a:pPr marL="0" indent="0" algn="ctr">
                  <a:buNone/>
                </a:pPr>
                <a:r>
                  <a:rPr lang="en-IT" dirty="0"/>
                  <a:t> </a:t>
                </a:r>
                <a:r>
                  <a:rPr lang="en-IT" b="1" dirty="0"/>
                  <a:t>Possiamo valutare l’ipotesi che ci sia una sottostima sistematica rispetto alle misure dei produttori?</a:t>
                </a:r>
              </a:p>
              <a:p>
                <a:pPr marL="0" indent="0" algn="ctr">
                  <a:buNone/>
                </a:pPr>
                <a14:m>
                  <m:oMath xmlns:m="http://schemas.openxmlformats.org/officeDocument/2006/math">
                    <m:r>
                      <a:rPr lang="en-IT" i="1">
                        <a:latin typeface="Cambria Math" panose="02040503050406030204" pitchFamily="18" charset="0"/>
                        <a:ea typeface="Cambria Math" panose="02040503050406030204" pitchFamily="18" charset="0"/>
                      </a:rPr>
                      <m:t>⟶ </m:t>
                    </m:r>
                  </m:oMath>
                </a14:m>
                <a:r>
                  <a:rPr lang="en-IT" dirty="0"/>
                  <a:t>Potrebbe</a:t>
                </a:r>
                <a:r>
                  <a:rPr lang="en-IT" baseline="-25000" dirty="0"/>
                  <a:t> </a:t>
                </a:r>
                <a:r>
                  <a:rPr lang="en-IT" dirty="0"/>
                  <a:t>essere stata usata, ad esempio, una diversa convenzione per l’estrazione del valore di VGL che si traduce in un offset che rende leggermente diverse le due stime.</a:t>
                </a:r>
                <a:endParaRPr lang="en-IT" baseline="-25000" dirty="0"/>
              </a:p>
            </p:txBody>
          </p:sp>
        </mc:Choice>
        <mc:Fallback xmlns="">
          <p:sp>
            <p:nvSpPr>
              <p:cNvPr id="3" name="Content Placeholder 2">
                <a:extLst>
                  <a:ext uri="{FF2B5EF4-FFF2-40B4-BE49-F238E27FC236}">
                    <a16:creationId xmlns:a16="http://schemas.microsoft.com/office/drawing/2014/main" id="{96D4FEE4-FB9E-C78B-682A-3D77916EC39D}"/>
                  </a:ext>
                </a:extLst>
              </p:cNvPr>
              <p:cNvSpPr>
                <a:spLocks noGrp="1" noRot="1" noChangeAspect="1" noMove="1" noResize="1" noEditPoints="1" noAdjustHandles="1" noChangeArrowheads="1" noChangeShapeType="1" noTextEdit="1"/>
              </p:cNvSpPr>
              <p:nvPr>
                <p:ph idx="1"/>
              </p:nvPr>
            </p:nvSpPr>
            <p:spPr>
              <a:xfrm>
                <a:off x="245536" y="1033136"/>
                <a:ext cx="6153875" cy="5501478"/>
              </a:xfrm>
              <a:blipFill>
                <a:blip r:embed="rId3"/>
                <a:stretch>
                  <a:fillRect t="-461" r="-1029"/>
                </a:stretch>
              </a:blipFill>
            </p:spPr>
            <p:txBody>
              <a:bodyPr/>
              <a:lstStyle/>
              <a:p>
                <a:r>
                  <a:rPr lang="en-IT">
                    <a:noFill/>
                  </a:rPr>
                  <a:t> </a:t>
                </a:r>
              </a:p>
            </p:txBody>
          </p:sp>
        </mc:Fallback>
      </mc:AlternateContent>
      <p:pic>
        <p:nvPicPr>
          <p:cNvPr id="4" name="Picture 3">
            <a:extLst>
              <a:ext uri="{FF2B5EF4-FFF2-40B4-BE49-F238E27FC236}">
                <a16:creationId xmlns:a16="http://schemas.microsoft.com/office/drawing/2014/main" id="{9B479E68-1865-55B0-96B6-DBFD25092AA8}"/>
              </a:ext>
            </a:extLst>
          </p:cNvPr>
          <p:cNvPicPr>
            <a:picLocks noChangeAspect="1"/>
          </p:cNvPicPr>
          <p:nvPr/>
        </p:nvPicPr>
        <p:blipFill>
          <a:blip r:embed="rId4"/>
          <a:stretch>
            <a:fillRect/>
          </a:stretch>
        </p:blipFill>
        <p:spPr>
          <a:xfrm>
            <a:off x="6643871" y="418837"/>
            <a:ext cx="5347503" cy="5234340"/>
          </a:xfrm>
          <a:prstGeom prst="rect">
            <a:avLst/>
          </a:prstGeom>
        </p:spPr>
      </p:pic>
      <p:sp>
        <p:nvSpPr>
          <p:cNvPr id="5" name="TextBox 4">
            <a:extLst>
              <a:ext uri="{FF2B5EF4-FFF2-40B4-BE49-F238E27FC236}">
                <a16:creationId xmlns:a16="http://schemas.microsoft.com/office/drawing/2014/main" id="{8AC2740F-7917-6C2B-EB4D-26F589BB246D}"/>
              </a:ext>
            </a:extLst>
          </p:cNvPr>
          <p:cNvSpPr txBox="1"/>
          <p:nvPr/>
        </p:nvSpPr>
        <p:spPr>
          <a:xfrm>
            <a:off x="7859211" y="5752618"/>
            <a:ext cx="2903359" cy="369332"/>
          </a:xfrm>
          <a:prstGeom prst="rect">
            <a:avLst/>
          </a:prstGeom>
          <a:noFill/>
        </p:spPr>
        <p:txBody>
          <a:bodyPr wrap="none" rtlCol="0">
            <a:spAutoFit/>
          </a:bodyPr>
          <a:lstStyle/>
          <a:p>
            <a:r>
              <a:rPr lang="en-IT" i="1" dirty="0"/>
              <a:t>Distribuzione di V</a:t>
            </a:r>
            <a:r>
              <a:rPr lang="en-IT" i="1" baseline="-25000" dirty="0"/>
              <a:t>GL</a:t>
            </a:r>
            <a:r>
              <a:rPr lang="en-IT" i="1" dirty="0"/>
              <a:t> dei fornitori</a:t>
            </a:r>
          </a:p>
        </p:txBody>
      </p:sp>
    </p:spTree>
    <p:extLst>
      <p:ext uri="{BB962C8B-B14F-4D97-AF65-F5344CB8AC3E}">
        <p14:creationId xmlns:p14="http://schemas.microsoft.com/office/powerpoint/2010/main" val="2875142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840C9-4E52-1B5A-2EEF-1B785203BC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F90FE6-7E4B-384B-60EE-88B4EECA1521}"/>
              </a:ext>
            </a:extLst>
          </p:cNvPr>
          <p:cNvSpPr>
            <a:spLocks noGrp="1"/>
          </p:cNvSpPr>
          <p:nvPr>
            <p:ph type="title"/>
          </p:nvPr>
        </p:nvSpPr>
        <p:spPr>
          <a:xfrm>
            <a:off x="2977024" y="176040"/>
            <a:ext cx="6237951" cy="668226"/>
          </a:xfrm>
        </p:spPr>
        <p:txBody>
          <a:bodyPr>
            <a:normAutofit fontScale="90000"/>
          </a:bodyPr>
          <a:lstStyle/>
          <a:p>
            <a:r>
              <a:rPr lang="en-IT" dirty="0"/>
              <a:t>25%-50%</a:t>
            </a:r>
            <a:endParaRPr lang="en-IT" baseline="-25000" dirty="0"/>
          </a:p>
        </p:txBody>
      </p:sp>
      <p:pic>
        <p:nvPicPr>
          <p:cNvPr id="5" name="Picture 4">
            <a:extLst>
              <a:ext uri="{FF2B5EF4-FFF2-40B4-BE49-F238E27FC236}">
                <a16:creationId xmlns:a16="http://schemas.microsoft.com/office/drawing/2014/main" id="{7C2F74BA-7C8D-9D9B-F1F8-FE5FA2F16B7C}"/>
              </a:ext>
            </a:extLst>
          </p:cNvPr>
          <p:cNvPicPr>
            <a:picLocks noChangeAspect="1"/>
          </p:cNvPicPr>
          <p:nvPr/>
        </p:nvPicPr>
        <p:blipFill>
          <a:blip r:embed="rId2"/>
          <a:stretch>
            <a:fillRect/>
          </a:stretch>
        </p:blipFill>
        <p:spPr>
          <a:xfrm>
            <a:off x="6217822" y="959373"/>
            <a:ext cx="5630075" cy="4813211"/>
          </a:xfrm>
          <a:prstGeom prst="rect">
            <a:avLst/>
          </a:prstGeom>
        </p:spPr>
      </p:pic>
      <p:pic>
        <p:nvPicPr>
          <p:cNvPr id="6" name="Picture 5">
            <a:extLst>
              <a:ext uri="{FF2B5EF4-FFF2-40B4-BE49-F238E27FC236}">
                <a16:creationId xmlns:a16="http://schemas.microsoft.com/office/drawing/2014/main" id="{15314ED9-134F-AE52-CD3B-A8B429185129}"/>
              </a:ext>
            </a:extLst>
          </p:cNvPr>
          <p:cNvPicPr>
            <a:picLocks noChangeAspect="1"/>
          </p:cNvPicPr>
          <p:nvPr/>
        </p:nvPicPr>
        <p:blipFill>
          <a:blip r:embed="rId3"/>
          <a:stretch>
            <a:fillRect/>
          </a:stretch>
        </p:blipFill>
        <p:spPr>
          <a:xfrm>
            <a:off x="151514" y="948437"/>
            <a:ext cx="5822665" cy="4709040"/>
          </a:xfrm>
          <a:prstGeom prst="rect">
            <a:avLst/>
          </a:prstGeom>
        </p:spPr>
      </p:pic>
      <p:sp>
        <p:nvSpPr>
          <p:cNvPr id="7" name="TextBox 6">
            <a:extLst>
              <a:ext uri="{FF2B5EF4-FFF2-40B4-BE49-F238E27FC236}">
                <a16:creationId xmlns:a16="http://schemas.microsoft.com/office/drawing/2014/main" id="{B571948A-7DFD-7F3F-6503-0F10EF4400B3}"/>
              </a:ext>
            </a:extLst>
          </p:cNvPr>
          <p:cNvSpPr txBox="1"/>
          <p:nvPr/>
        </p:nvSpPr>
        <p:spPr>
          <a:xfrm>
            <a:off x="274744" y="5887691"/>
            <a:ext cx="11886156" cy="338554"/>
          </a:xfrm>
          <a:prstGeom prst="rect">
            <a:avLst/>
          </a:prstGeom>
          <a:noFill/>
        </p:spPr>
        <p:txBody>
          <a:bodyPr wrap="square" rtlCol="0">
            <a:spAutoFit/>
          </a:bodyPr>
          <a:lstStyle/>
          <a:p>
            <a:pPr algn="ctr"/>
            <a:r>
              <a:rPr lang="en-IT" sz="1600" dirty="0"/>
              <a:t>Anche in questo caso la somma fra le medie di valore stimato di VGL e la differenza sensore-sensore restituisce circa la stima del produttore </a:t>
            </a:r>
          </a:p>
        </p:txBody>
      </p:sp>
      <p:sp>
        <p:nvSpPr>
          <p:cNvPr id="9" name="TextBox 8">
            <a:extLst>
              <a:ext uri="{FF2B5EF4-FFF2-40B4-BE49-F238E27FC236}">
                <a16:creationId xmlns:a16="http://schemas.microsoft.com/office/drawing/2014/main" id="{CF29A108-FC07-5B58-5D5B-DF5A66673E93}"/>
              </a:ext>
            </a:extLst>
          </p:cNvPr>
          <p:cNvSpPr txBox="1"/>
          <p:nvPr/>
        </p:nvSpPr>
        <p:spPr>
          <a:xfrm>
            <a:off x="4803493" y="6341352"/>
            <a:ext cx="2226892" cy="369332"/>
          </a:xfrm>
          <a:prstGeom prst="rect">
            <a:avLst/>
          </a:prstGeom>
          <a:noFill/>
        </p:spPr>
        <p:txBody>
          <a:bodyPr wrap="none" rtlCol="0">
            <a:spAutoFit/>
          </a:bodyPr>
          <a:lstStyle/>
          <a:p>
            <a:pPr algn="ctr"/>
            <a:r>
              <a:rPr lang="en-IT" b="1" dirty="0"/>
              <a:t>34.72 +0.19 = </a:t>
            </a:r>
            <a:r>
              <a:rPr lang="en-IT" b="1" u="sng" dirty="0"/>
              <a:t>34.91</a:t>
            </a:r>
          </a:p>
        </p:txBody>
      </p:sp>
    </p:spTree>
    <p:extLst>
      <p:ext uri="{BB962C8B-B14F-4D97-AF65-F5344CB8AC3E}">
        <p14:creationId xmlns:p14="http://schemas.microsoft.com/office/powerpoint/2010/main" val="1674514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B94CC-47B1-5908-88AE-A3624A5E57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06102F-EA16-CD45-CBF5-589D3949E07B}"/>
              </a:ext>
            </a:extLst>
          </p:cNvPr>
          <p:cNvSpPr>
            <a:spLocks noGrp="1"/>
          </p:cNvSpPr>
          <p:nvPr>
            <p:ph type="title"/>
          </p:nvPr>
        </p:nvSpPr>
        <p:spPr>
          <a:xfrm>
            <a:off x="1679300" y="49997"/>
            <a:ext cx="8475278" cy="668226"/>
          </a:xfrm>
        </p:spPr>
        <p:txBody>
          <a:bodyPr>
            <a:normAutofit fontScale="90000"/>
          </a:bodyPr>
          <a:lstStyle/>
          <a:p>
            <a:r>
              <a:rPr lang="en-IT" dirty="0"/>
              <a:t>Quale range ci conduce alla stessa V</a:t>
            </a:r>
            <a:r>
              <a:rPr lang="en-IT" baseline="-25000" dirty="0"/>
              <a:t>GL</a:t>
            </a:r>
            <a:r>
              <a:rPr lang="en-IT" dirty="0"/>
              <a:t>?</a:t>
            </a:r>
            <a:endParaRPr lang="en-IT" baseline="-25000" dirty="0"/>
          </a:p>
        </p:txBody>
      </p:sp>
      <p:pic>
        <p:nvPicPr>
          <p:cNvPr id="3" name="Picture 2">
            <a:extLst>
              <a:ext uri="{FF2B5EF4-FFF2-40B4-BE49-F238E27FC236}">
                <a16:creationId xmlns:a16="http://schemas.microsoft.com/office/drawing/2014/main" id="{5249BFBC-4208-FAB2-69B9-C8A8E6A288AA}"/>
              </a:ext>
            </a:extLst>
          </p:cNvPr>
          <p:cNvPicPr>
            <a:picLocks noChangeAspect="1"/>
          </p:cNvPicPr>
          <p:nvPr/>
        </p:nvPicPr>
        <p:blipFill>
          <a:blip r:embed="rId2"/>
          <a:stretch>
            <a:fillRect/>
          </a:stretch>
        </p:blipFill>
        <p:spPr>
          <a:xfrm>
            <a:off x="6580218" y="1759404"/>
            <a:ext cx="4955824" cy="4118602"/>
          </a:xfrm>
          <a:prstGeom prst="rect">
            <a:avLst/>
          </a:prstGeom>
        </p:spPr>
      </p:pic>
      <p:pic>
        <p:nvPicPr>
          <p:cNvPr id="4" name="Picture 3">
            <a:extLst>
              <a:ext uri="{FF2B5EF4-FFF2-40B4-BE49-F238E27FC236}">
                <a16:creationId xmlns:a16="http://schemas.microsoft.com/office/drawing/2014/main" id="{AB8DC314-95A8-D41D-7E7F-37C473F77A6B}"/>
              </a:ext>
            </a:extLst>
          </p:cNvPr>
          <p:cNvPicPr>
            <a:picLocks noChangeAspect="1"/>
          </p:cNvPicPr>
          <p:nvPr/>
        </p:nvPicPr>
        <p:blipFill>
          <a:blip r:embed="rId3"/>
          <a:stretch>
            <a:fillRect/>
          </a:stretch>
        </p:blipFill>
        <p:spPr>
          <a:xfrm>
            <a:off x="80582" y="1759404"/>
            <a:ext cx="6224073" cy="4844596"/>
          </a:xfrm>
          <a:prstGeom prst="rect">
            <a:avLst/>
          </a:prstGeom>
        </p:spPr>
      </p:pic>
      <p:sp>
        <p:nvSpPr>
          <p:cNvPr id="11" name="TextBox 10">
            <a:extLst>
              <a:ext uri="{FF2B5EF4-FFF2-40B4-BE49-F238E27FC236}">
                <a16:creationId xmlns:a16="http://schemas.microsoft.com/office/drawing/2014/main" id="{F7706250-42DE-0D89-9FD9-B3C5A339AC0E}"/>
              </a:ext>
            </a:extLst>
          </p:cNvPr>
          <p:cNvSpPr txBox="1"/>
          <p:nvPr/>
        </p:nvSpPr>
        <p:spPr>
          <a:xfrm>
            <a:off x="1105914" y="915648"/>
            <a:ext cx="9980172" cy="646331"/>
          </a:xfrm>
          <a:prstGeom prst="rect">
            <a:avLst/>
          </a:prstGeom>
          <a:noFill/>
        </p:spPr>
        <p:txBody>
          <a:bodyPr wrap="square" rtlCol="0">
            <a:spAutoFit/>
          </a:bodyPr>
          <a:lstStyle/>
          <a:p>
            <a:r>
              <a:rPr lang="en-IT" dirty="0"/>
              <a:t>Provando con il range </a:t>
            </a:r>
            <a:r>
              <a:rPr lang="en-IT" b="1" dirty="0"/>
              <a:t>12%-37% </a:t>
            </a:r>
            <a:r>
              <a:rPr lang="en-IT" dirty="0"/>
              <a:t>otteniamo una stima ampiamente compatibile con quella dei produttori. Conseguentemente, la differenza sensore-sensore media ottenuta è compatibile con zero. </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BC4D4CC-104A-7149-5452-1894AFF6A4E8}"/>
                  </a:ext>
                </a:extLst>
              </p:cNvPr>
              <p:cNvSpPr txBox="1"/>
              <p:nvPr/>
            </p:nvSpPr>
            <p:spPr>
              <a:xfrm>
                <a:off x="6811646" y="6024631"/>
                <a:ext cx="4866717" cy="646331"/>
              </a:xfrm>
              <a:prstGeom prst="rect">
                <a:avLst/>
              </a:prstGeom>
              <a:noFill/>
            </p:spPr>
            <p:txBody>
              <a:bodyPr wrap="none" rtlCol="0">
                <a:spAutoFit/>
              </a:bodyPr>
              <a:lstStyle/>
              <a:p>
                <a:pPr algn="ctr" latinLnBrk="1"/>
                <a:r>
                  <a:rPr lang="en-IT" b="1" dirty="0"/>
                  <a:t>RMSE medio = 0.267</a:t>
                </a:r>
                <a14:m>
                  <m:oMath xmlns:m="http://schemas.openxmlformats.org/officeDocument/2006/math">
                    <m:r>
                      <a:rPr lang="en-IT" b="1" i="1" smtClean="0">
                        <a:latin typeface="Cambria Math" panose="02040503050406030204" pitchFamily="18" charset="0"/>
                        <a:ea typeface="Cambria Math" panose="02040503050406030204" pitchFamily="18" charset="0"/>
                      </a:rPr>
                      <m:t>∙</m:t>
                    </m:r>
                    <m:r>
                      <a:rPr lang="it-IT" b="1" i="1" smtClean="0">
                        <a:latin typeface="Cambria Math" panose="02040503050406030204" pitchFamily="18" charset="0"/>
                        <a:ea typeface="Cambria Math" panose="02040503050406030204" pitchFamily="18" charset="0"/>
                      </a:rPr>
                      <m:t>𝟏𝟎</m:t>
                    </m:r>
                    <m:r>
                      <a:rPr lang="it-IT" b="1" i="1" baseline="30000" smtClean="0">
                        <a:latin typeface="Cambria Math" panose="02040503050406030204" pitchFamily="18" charset="0"/>
                        <a:ea typeface="Cambria Math" panose="02040503050406030204" pitchFamily="18" charset="0"/>
                      </a:rPr>
                      <m:t>𝟐𝟏</m:t>
                    </m:r>
                  </m:oMath>
                </a14:m>
                <a:r>
                  <a:rPr lang="en-IT" b="1" dirty="0"/>
                  <a:t> [1/F</a:t>
                </a:r>
                <a:r>
                  <a:rPr lang="en-IT" b="1" baseline="30000" dirty="0"/>
                  <a:t>2</a:t>
                </a:r>
                <a:r>
                  <a:rPr lang="en-IT" b="1" dirty="0"/>
                  <a:t>]</a:t>
                </a:r>
                <a:endParaRPr lang="en-IT" dirty="0"/>
              </a:p>
              <a:p>
                <a:r>
                  <a:rPr lang="en-IT" dirty="0"/>
                  <a:t>Non troppo diverso dagli altri intervalli analizzati</a:t>
                </a:r>
              </a:p>
            </p:txBody>
          </p:sp>
        </mc:Choice>
        <mc:Fallback xmlns="">
          <p:sp>
            <p:nvSpPr>
              <p:cNvPr id="12" name="TextBox 11">
                <a:extLst>
                  <a:ext uri="{FF2B5EF4-FFF2-40B4-BE49-F238E27FC236}">
                    <a16:creationId xmlns:a16="http://schemas.microsoft.com/office/drawing/2014/main" id="{ABC4D4CC-104A-7149-5452-1894AFF6A4E8}"/>
                  </a:ext>
                </a:extLst>
              </p:cNvPr>
              <p:cNvSpPr txBox="1">
                <a:spLocks noRot="1" noChangeAspect="1" noMove="1" noResize="1" noEditPoints="1" noAdjustHandles="1" noChangeArrowheads="1" noChangeShapeType="1" noTextEdit="1"/>
              </p:cNvSpPr>
              <p:nvPr/>
            </p:nvSpPr>
            <p:spPr>
              <a:xfrm>
                <a:off x="6811646" y="6024631"/>
                <a:ext cx="4866717" cy="646331"/>
              </a:xfrm>
              <a:prstGeom prst="rect">
                <a:avLst/>
              </a:prstGeom>
              <a:blipFill>
                <a:blip r:embed="rId4"/>
                <a:stretch>
                  <a:fillRect l="-1042" t="-3846" b="-13462"/>
                </a:stretch>
              </a:blipFill>
            </p:spPr>
            <p:txBody>
              <a:bodyPr/>
              <a:lstStyle/>
              <a:p>
                <a:r>
                  <a:rPr lang="en-IT">
                    <a:noFill/>
                  </a:rPr>
                  <a:t> </a:t>
                </a:r>
              </a:p>
            </p:txBody>
          </p:sp>
        </mc:Fallback>
      </mc:AlternateContent>
    </p:spTree>
    <p:extLst>
      <p:ext uri="{BB962C8B-B14F-4D97-AF65-F5344CB8AC3E}">
        <p14:creationId xmlns:p14="http://schemas.microsoft.com/office/powerpoint/2010/main" val="3919377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F50CAE-49D0-B45B-C6E8-604DB6DC4717}"/>
              </a:ext>
            </a:extLst>
          </p:cNvPr>
          <p:cNvSpPr>
            <a:spLocks noGrp="1"/>
          </p:cNvSpPr>
          <p:nvPr>
            <p:ph idx="1"/>
          </p:nvPr>
        </p:nvSpPr>
        <p:spPr>
          <a:xfrm>
            <a:off x="107720" y="5196267"/>
            <a:ext cx="11717864" cy="1644699"/>
          </a:xfrm>
        </p:spPr>
        <p:txBody>
          <a:bodyPr>
            <a:normAutofit/>
          </a:bodyPr>
          <a:lstStyle/>
          <a:p>
            <a:pPr algn="just"/>
            <a:r>
              <a:rPr lang="en-IT" sz="2000" dirty="0"/>
              <a:t>Possiamo allora concludere che, considerando range abbastanza vicini al cambio di linearità, ci si riconduce ai risultati del produttore. In questi casi spesso il fit verde si distacca dai punti quando mi allontano da VGL. Potrebbe essere un effetto dovuto ad un cambio di drogaggio (in questo caso sarebbe un aumento di drogaggio poichè la capacità cresce più velocemente, ovvero la zona di svuotamento decresce piu lentamente).</a:t>
            </a:r>
          </a:p>
        </p:txBody>
      </p:sp>
      <p:pic>
        <p:nvPicPr>
          <p:cNvPr id="12" name="Picture 11">
            <a:extLst>
              <a:ext uri="{FF2B5EF4-FFF2-40B4-BE49-F238E27FC236}">
                <a16:creationId xmlns:a16="http://schemas.microsoft.com/office/drawing/2014/main" id="{C6A329CD-1711-BD7A-83BC-678B7B5891E9}"/>
              </a:ext>
            </a:extLst>
          </p:cNvPr>
          <p:cNvPicPr>
            <a:picLocks noChangeAspect="1"/>
          </p:cNvPicPr>
          <p:nvPr/>
        </p:nvPicPr>
        <p:blipFill>
          <a:blip r:embed="rId2"/>
          <a:stretch>
            <a:fillRect/>
          </a:stretch>
        </p:blipFill>
        <p:spPr>
          <a:xfrm>
            <a:off x="8243268" y="106981"/>
            <a:ext cx="3474596" cy="4865278"/>
          </a:xfrm>
          <a:prstGeom prst="rect">
            <a:avLst/>
          </a:prstGeom>
        </p:spPr>
      </p:pic>
      <p:pic>
        <p:nvPicPr>
          <p:cNvPr id="13" name="Picture 12">
            <a:extLst>
              <a:ext uri="{FF2B5EF4-FFF2-40B4-BE49-F238E27FC236}">
                <a16:creationId xmlns:a16="http://schemas.microsoft.com/office/drawing/2014/main" id="{F76128EA-9294-B2A9-0CFE-8EDF705D9407}"/>
              </a:ext>
            </a:extLst>
          </p:cNvPr>
          <p:cNvPicPr>
            <a:picLocks noChangeAspect="1"/>
          </p:cNvPicPr>
          <p:nvPr/>
        </p:nvPicPr>
        <p:blipFill>
          <a:blip r:embed="rId3"/>
          <a:stretch>
            <a:fillRect/>
          </a:stretch>
        </p:blipFill>
        <p:spPr>
          <a:xfrm>
            <a:off x="8243267" y="4864718"/>
            <a:ext cx="3474597" cy="331549"/>
          </a:xfrm>
          <a:prstGeom prst="rect">
            <a:avLst/>
          </a:prstGeom>
        </p:spPr>
      </p:pic>
      <p:pic>
        <p:nvPicPr>
          <p:cNvPr id="16" name="Picture 15">
            <a:extLst>
              <a:ext uri="{FF2B5EF4-FFF2-40B4-BE49-F238E27FC236}">
                <a16:creationId xmlns:a16="http://schemas.microsoft.com/office/drawing/2014/main" id="{550D0323-DC1F-8E4F-1C99-953B2AD1523C}"/>
              </a:ext>
            </a:extLst>
          </p:cNvPr>
          <p:cNvPicPr>
            <a:picLocks noChangeAspect="1"/>
          </p:cNvPicPr>
          <p:nvPr/>
        </p:nvPicPr>
        <p:blipFill>
          <a:blip r:embed="rId4"/>
          <a:stretch>
            <a:fillRect/>
          </a:stretch>
        </p:blipFill>
        <p:spPr>
          <a:xfrm>
            <a:off x="4384269" y="106981"/>
            <a:ext cx="3187917" cy="4865278"/>
          </a:xfrm>
          <a:prstGeom prst="rect">
            <a:avLst/>
          </a:prstGeom>
        </p:spPr>
      </p:pic>
      <p:pic>
        <p:nvPicPr>
          <p:cNvPr id="17" name="Picture 16">
            <a:extLst>
              <a:ext uri="{FF2B5EF4-FFF2-40B4-BE49-F238E27FC236}">
                <a16:creationId xmlns:a16="http://schemas.microsoft.com/office/drawing/2014/main" id="{C4C770E6-7D51-F08A-EE37-3DD2260027EA}"/>
              </a:ext>
            </a:extLst>
          </p:cNvPr>
          <p:cNvPicPr>
            <a:picLocks noChangeAspect="1"/>
          </p:cNvPicPr>
          <p:nvPr/>
        </p:nvPicPr>
        <p:blipFill>
          <a:blip r:embed="rId5"/>
          <a:stretch>
            <a:fillRect/>
          </a:stretch>
        </p:blipFill>
        <p:spPr>
          <a:xfrm>
            <a:off x="4384268" y="4864718"/>
            <a:ext cx="3187918" cy="331549"/>
          </a:xfrm>
          <a:prstGeom prst="rect">
            <a:avLst/>
          </a:prstGeom>
        </p:spPr>
      </p:pic>
      <p:pic>
        <p:nvPicPr>
          <p:cNvPr id="18" name="Picture 17">
            <a:extLst>
              <a:ext uri="{FF2B5EF4-FFF2-40B4-BE49-F238E27FC236}">
                <a16:creationId xmlns:a16="http://schemas.microsoft.com/office/drawing/2014/main" id="{8970798F-C5FB-2016-6105-B4E35798E248}"/>
              </a:ext>
            </a:extLst>
          </p:cNvPr>
          <p:cNvPicPr>
            <a:picLocks noChangeAspect="1"/>
          </p:cNvPicPr>
          <p:nvPr/>
        </p:nvPicPr>
        <p:blipFill>
          <a:blip r:embed="rId6"/>
          <a:stretch>
            <a:fillRect/>
          </a:stretch>
        </p:blipFill>
        <p:spPr>
          <a:xfrm>
            <a:off x="525267" y="106981"/>
            <a:ext cx="3187918" cy="4757737"/>
          </a:xfrm>
          <a:prstGeom prst="rect">
            <a:avLst/>
          </a:prstGeom>
        </p:spPr>
      </p:pic>
      <p:pic>
        <p:nvPicPr>
          <p:cNvPr id="19" name="Picture 18">
            <a:extLst>
              <a:ext uri="{FF2B5EF4-FFF2-40B4-BE49-F238E27FC236}">
                <a16:creationId xmlns:a16="http://schemas.microsoft.com/office/drawing/2014/main" id="{E62A7D13-49D2-83BE-965D-1C3E2D726B0C}"/>
              </a:ext>
            </a:extLst>
          </p:cNvPr>
          <p:cNvPicPr>
            <a:picLocks noChangeAspect="1"/>
          </p:cNvPicPr>
          <p:nvPr/>
        </p:nvPicPr>
        <p:blipFill>
          <a:blip r:embed="rId7"/>
          <a:stretch>
            <a:fillRect/>
          </a:stretch>
        </p:blipFill>
        <p:spPr>
          <a:xfrm>
            <a:off x="527764" y="4856162"/>
            <a:ext cx="3185422" cy="340105"/>
          </a:xfrm>
          <a:prstGeom prst="rect">
            <a:avLst/>
          </a:prstGeom>
        </p:spPr>
      </p:pic>
    </p:spTree>
    <p:extLst>
      <p:ext uri="{BB962C8B-B14F-4D97-AF65-F5344CB8AC3E}">
        <p14:creationId xmlns:p14="http://schemas.microsoft.com/office/powerpoint/2010/main" val="267048572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1979</TotalTime>
  <Words>362</Words>
  <Application>Microsoft Macintosh PowerPoint</Application>
  <PresentationFormat>Widescreen</PresentationFormat>
  <Paragraphs>23</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Cambria Math</vt:lpstr>
      <vt:lpstr>Gill Sans MT</vt:lpstr>
      <vt:lpstr>Parcel</vt:lpstr>
      <vt:lpstr>Differenze fra Le stime di Vgl</vt:lpstr>
      <vt:lpstr>15%-40%</vt:lpstr>
      <vt:lpstr>Osservazioni</vt:lpstr>
      <vt:lpstr>25%-50%</vt:lpstr>
      <vt:lpstr>Quale range ci conduce alla stessa VGL?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Palmas</dc:creator>
  <cp:lastModifiedBy>Andrea Palmas</cp:lastModifiedBy>
  <cp:revision>11</cp:revision>
  <dcterms:created xsi:type="dcterms:W3CDTF">2026-10-07T14:28:05Z</dcterms:created>
  <dcterms:modified xsi:type="dcterms:W3CDTF">2026-10-13T12:30:29Z</dcterms:modified>
</cp:coreProperties>
</file>