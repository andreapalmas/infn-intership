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7"/>
  </p:notesMasterIdLst>
  <p:sldIdLst>
    <p:sldId id="257" r:id="rId2"/>
    <p:sldId id="258" r:id="rId3"/>
    <p:sldId id="259" r:id="rId4"/>
    <p:sldId id="260" r:id="rId5"/>
    <p:sldId id="261"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667"/>
  </p:normalViewPr>
  <p:slideViewPr>
    <p:cSldViewPr snapToGrid="0">
      <p:cViewPr>
        <p:scale>
          <a:sx n="105" d="100"/>
          <a:sy n="105" d="100"/>
        </p:scale>
        <p:origin x="864" y="5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822C26-E222-C84D-BAD5-28C05110B46F}" type="datetimeFigureOut">
              <a:rPr lang="en-IT" smtClean="0"/>
              <a:t>07/10/2026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C4D24F-8281-5548-9FF7-066FCBC7EBE5}" type="slidenum">
              <a:rPr lang="en-IT" smtClean="0"/>
              <a:t>‹#›</a:t>
            </a:fld>
            <a:endParaRPr lang="en-IT"/>
          </a:p>
        </p:txBody>
      </p:sp>
    </p:spTree>
    <p:extLst>
      <p:ext uri="{BB962C8B-B14F-4D97-AF65-F5344CB8AC3E}">
        <p14:creationId xmlns:p14="http://schemas.microsoft.com/office/powerpoint/2010/main" val="2843571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97C4D24F-8281-5548-9FF7-066FCBC7EBE5}" type="slidenum">
              <a:rPr lang="en-IT" smtClean="0"/>
              <a:t>4</a:t>
            </a:fld>
            <a:endParaRPr lang="en-IT"/>
          </a:p>
        </p:txBody>
      </p:sp>
    </p:spTree>
    <p:extLst>
      <p:ext uri="{BB962C8B-B14F-4D97-AF65-F5344CB8AC3E}">
        <p14:creationId xmlns:p14="http://schemas.microsoft.com/office/powerpoint/2010/main" val="237471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10/7/26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10/7/26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10/7/26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10/7/26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10/7/26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GB"/>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10/7/26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10/7/26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10/7/26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10/7/26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10/7/26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A18F6-79B9-D8A9-60AF-8111E46072DC}"/>
              </a:ext>
            </a:extLst>
          </p:cNvPr>
          <p:cNvSpPr>
            <a:spLocks noGrp="1"/>
          </p:cNvSpPr>
          <p:nvPr>
            <p:ph type="title"/>
          </p:nvPr>
        </p:nvSpPr>
        <p:spPr>
          <a:xfrm>
            <a:off x="2231136" y="113703"/>
            <a:ext cx="7729728" cy="1188720"/>
          </a:xfrm>
        </p:spPr>
        <p:txBody>
          <a:bodyPr/>
          <a:lstStyle/>
          <a:p>
            <a:r>
              <a:rPr lang="en-IT"/>
              <a:t>Principali conclusioni</a:t>
            </a:r>
          </a:p>
        </p:txBody>
      </p:sp>
      <p:sp>
        <p:nvSpPr>
          <p:cNvPr id="3" name="Content Placeholder 2">
            <a:extLst>
              <a:ext uri="{FF2B5EF4-FFF2-40B4-BE49-F238E27FC236}">
                <a16:creationId xmlns:a16="http://schemas.microsoft.com/office/drawing/2014/main" id="{85579E26-86DC-BAF1-9D09-E3F07E105435}"/>
              </a:ext>
            </a:extLst>
          </p:cNvPr>
          <p:cNvSpPr>
            <a:spLocks noGrp="1"/>
          </p:cNvSpPr>
          <p:nvPr>
            <p:ph idx="1"/>
          </p:nvPr>
        </p:nvSpPr>
        <p:spPr>
          <a:xfrm>
            <a:off x="2231136" y="1381706"/>
            <a:ext cx="7729728" cy="882100"/>
          </a:xfrm>
        </p:spPr>
        <p:txBody>
          <a:bodyPr>
            <a:normAutofit lnSpcReduction="10000"/>
          </a:bodyPr>
          <a:lstStyle/>
          <a:p>
            <a:r>
              <a:rPr lang="en-IT"/>
              <a:t>Dopo aver estratto </a:t>
            </a:r>
            <a:r>
              <a:rPr lang="en-GB"/>
              <a:t>i valori di V_GL a partire dall’intercetta fra le rette ottenute dai due fit lineari, ho trovato che il valore medio ottenuto (nelle prossime slides) è inferiore rispetto a quanto risulta nella presentazione:</a:t>
            </a:r>
          </a:p>
          <a:p>
            <a:endParaRPr lang="en-IT"/>
          </a:p>
        </p:txBody>
      </p:sp>
      <p:pic>
        <p:nvPicPr>
          <p:cNvPr id="4" name="Picture 3">
            <a:extLst>
              <a:ext uri="{FF2B5EF4-FFF2-40B4-BE49-F238E27FC236}">
                <a16:creationId xmlns:a16="http://schemas.microsoft.com/office/drawing/2014/main" id="{8C0413EB-A42E-4D68-54B6-D9EB20BEAA1A}"/>
              </a:ext>
            </a:extLst>
          </p:cNvPr>
          <p:cNvPicPr>
            <a:picLocks noChangeAspect="1"/>
          </p:cNvPicPr>
          <p:nvPr/>
        </p:nvPicPr>
        <p:blipFill>
          <a:blip r:embed="rId2"/>
          <a:stretch>
            <a:fillRect/>
          </a:stretch>
        </p:blipFill>
        <p:spPr>
          <a:xfrm>
            <a:off x="2231136" y="2376862"/>
            <a:ext cx="7797829" cy="4367435"/>
          </a:xfrm>
          <a:prstGeom prst="rect">
            <a:avLst/>
          </a:prstGeom>
        </p:spPr>
      </p:pic>
    </p:spTree>
    <p:extLst>
      <p:ext uri="{BB962C8B-B14F-4D97-AF65-F5344CB8AC3E}">
        <p14:creationId xmlns:p14="http://schemas.microsoft.com/office/powerpoint/2010/main" val="1052050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C4DBDE-650B-3738-1EB0-EE5CD562BAAC}"/>
              </a:ext>
            </a:extLst>
          </p:cNvPr>
          <p:cNvSpPr>
            <a:spLocks noGrp="1"/>
          </p:cNvSpPr>
          <p:nvPr>
            <p:ph idx="1"/>
          </p:nvPr>
        </p:nvSpPr>
        <p:spPr>
          <a:xfrm>
            <a:off x="1686386" y="138036"/>
            <a:ext cx="8031545" cy="1077921"/>
          </a:xfrm>
        </p:spPr>
        <p:txBody>
          <a:bodyPr/>
          <a:lstStyle/>
          <a:p>
            <a:r>
              <a:rPr lang="en-IT"/>
              <a:t>Il risultato che ottengo dipende fortemente dall’intervallo di fit che considero per la regione di bulk. Inizialmente considero un range piu “equo” possibile definito fra il 25% e il 75 % della distanza fra il minimo e il massimo valore di 1/C^2. Ottengo:</a:t>
            </a:r>
          </a:p>
        </p:txBody>
      </p:sp>
      <p:pic>
        <p:nvPicPr>
          <p:cNvPr id="4" name="Picture 3">
            <a:extLst>
              <a:ext uri="{FF2B5EF4-FFF2-40B4-BE49-F238E27FC236}">
                <a16:creationId xmlns:a16="http://schemas.microsoft.com/office/drawing/2014/main" id="{26F4C0F7-3263-F016-C11E-9406ACAA0BBF}"/>
              </a:ext>
            </a:extLst>
          </p:cNvPr>
          <p:cNvPicPr>
            <a:picLocks noChangeAspect="1"/>
          </p:cNvPicPr>
          <p:nvPr/>
        </p:nvPicPr>
        <p:blipFill>
          <a:blip r:embed="rId2"/>
          <a:stretch>
            <a:fillRect/>
          </a:stretch>
        </p:blipFill>
        <p:spPr>
          <a:xfrm>
            <a:off x="676329" y="1391414"/>
            <a:ext cx="5654332" cy="3630110"/>
          </a:xfrm>
          <a:prstGeom prst="rect">
            <a:avLst/>
          </a:prstGeom>
        </p:spPr>
      </p:pic>
      <p:sp>
        <p:nvSpPr>
          <p:cNvPr id="6" name="TextBox 5">
            <a:extLst>
              <a:ext uri="{FF2B5EF4-FFF2-40B4-BE49-F238E27FC236}">
                <a16:creationId xmlns:a16="http://schemas.microsoft.com/office/drawing/2014/main" id="{2C829949-938E-9885-787E-C70788546017}"/>
              </a:ext>
            </a:extLst>
          </p:cNvPr>
          <p:cNvSpPr txBox="1"/>
          <p:nvPr/>
        </p:nvSpPr>
        <p:spPr>
          <a:xfrm>
            <a:off x="6836156" y="5196981"/>
            <a:ext cx="5149884" cy="1015663"/>
          </a:xfrm>
          <a:prstGeom prst="rect">
            <a:avLst/>
          </a:prstGeom>
          <a:noFill/>
        </p:spPr>
        <p:txBody>
          <a:bodyPr wrap="square" rtlCol="0">
            <a:spAutoFit/>
          </a:bodyPr>
          <a:lstStyle/>
          <a:p>
            <a:r>
              <a:rPr lang="en-IT" sz="1200"/>
              <a:t>Esempio a campione di come viene il fit per trovare V_GL.</a:t>
            </a:r>
            <a:br>
              <a:rPr lang="en-IT" sz="1200"/>
            </a:br>
            <a:r>
              <a:rPr lang="en-IT" sz="1200"/>
              <a:t>Le linee rosse tratteggiate definiscono l’intervallo da cui si ottiene il fit della retta verde. La retta descrive bene </a:t>
            </a:r>
            <a:r>
              <a:rPr lang="en-GB" sz="1200"/>
              <a:t>I</a:t>
            </a:r>
            <a:r>
              <a:rPr lang="en-IT" sz="1200"/>
              <a:t> dati che si trovano al centro della salita, mentre diventa meno affidabile all’inizio salita dove c’è la transizione fra regione di GL e regione di bulk</a:t>
            </a:r>
          </a:p>
        </p:txBody>
      </p:sp>
      <p:sp>
        <p:nvSpPr>
          <p:cNvPr id="7" name="TextBox 6">
            <a:extLst>
              <a:ext uri="{FF2B5EF4-FFF2-40B4-BE49-F238E27FC236}">
                <a16:creationId xmlns:a16="http://schemas.microsoft.com/office/drawing/2014/main" id="{47A40F24-2643-22B7-3BB4-14F07783916F}"/>
              </a:ext>
            </a:extLst>
          </p:cNvPr>
          <p:cNvSpPr txBox="1"/>
          <p:nvPr/>
        </p:nvSpPr>
        <p:spPr>
          <a:xfrm>
            <a:off x="947396" y="5196981"/>
            <a:ext cx="5559101" cy="461665"/>
          </a:xfrm>
          <a:prstGeom prst="rect">
            <a:avLst/>
          </a:prstGeom>
          <a:noFill/>
        </p:spPr>
        <p:txBody>
          <a:bodyPr wrap="square" rtlCol="0">
            <a:spAutoFit/>
          </a:bodyPr>
          <a:lstStyle/>
          <a:p>
            <a:r>
              <a:rPr lang="en-IT" sz="1200"/>
              <a:t>Distribuzione ottenuta. F</a:t>
            </a:r>
            <a:r>
              <a:rPr lang="en-GB" sz="1200"/>
              <a:t>o</a:t>
            </a:r>
            <a:r>
              <a:rPr lang="en-IT" sz="1200"/>
              <a:t>rma a campana ben definita ma valore medio decisamente sotto il 34.91 del fornitore.</a:t>
            </a:r>
          </a:p>
        </p:txBody>
      </p:sp>
      <p:pic>
        <p:nvPicPr>
          <p:cNvPr id="9" name="Picture 8">
            <a:extLst>
              <a:ext uri="{FF2B5EF4-FFF2-40B4-BE49-F238E27FC236}">
                <a16:creationId xmlns:a16="http://schemas.microsoft.com/office/drawing/2014/main" id="{25D71B68-D5B3-7BE6-20A0-2AD8E538AAC0}"/>
              </a:ext>
            </a:extLst>
          </p:cNvPr>
          <p:cNvPicPr>
            <a:picLocks noChangeAspect="1"/>
          </p:cNvPicPr>
          <p:nvPr/>
        </p:nvPicPr>
        <p:blipFill>
          <a:blip r:embed="rId3"/>
          <a:stretch>
            <a:fillRect/>
          </a:stretch>
        </p:blipFill>
        <p:spPr>
          <a:xfrm>
            <a:off x="6836156" y="1390369"/>
            <a:ext cx="5054600" cy="3632200"/>
          </a:xfrm>
          <a:prstGeom prst="rect">
            <a:avLst/>
          </a:prstGeom>
        </p:spPr>
      </p:pic>
    </p:spTree>
    <p:extLst>
      <p:ext uri="{BB962C8B-B14F-4D97-AF65-F5344CB8AC3E}">
        <p14:creationId xmlns:p14="http://schemas.microsoft.com/office/powerpoint/2010/main" val="795785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8DE019-6161-CFEB-B30F-CBE726DA98FB}"/>
              </a:ext>
            </a:extLst>
          </p:cNvPr>
          <p:cNvSpPr>
            <a:spLocks noGrp="1"/>
          </p:cNvSpPr>
          <p:nvPr>
            <p:ph idx="1"/>
          </p:nvPr>
        </p:nvSpPr>
        <p:spPr>
          <a:xfrm>
            <a:off x="2231136" y="157493"/>
            <a:ext cx="7729728" cy="961190"/>
          </a:xfrm>
        </p:spPr>
        <p:txBody>
          <a:bodyPr>
            <a:normAutofit fontScale="85000" lnSpcReduction="10000"/>
          </a:bodyPr>
          <a:lstStyle/>
          <a:p>
            <a:r>
              <a:rPr lang="en-IT"/>
              <a:t>Provo allora a ricentrare l’intervallo per vedere se la situazione migliora considerando piu punti all inizio e meno alla fine senza alterare sgnificativamente la pendenza della retta. Imposto le percentuali di prima come 20% e 50%. (Sto quindi già trascurando un discreto numero di punti fra il 50% e il 70% che tecnicamente sono ben distanti dal valore di V_fd):</a:t>
            </a:r>
          </a:p>
          <a:p>
            <a:endParaRPr lang="en-IT"/>
          </a:p>
          <a:p>
            <a:endParaRPr lang="en-IT"/>
          </a:p>
        </p:txBody>
      </p:sp>
      <p:pic>
        <p:nvPicPr>
          <p:cNvPr id="4" name="Picture 3">
            <a:extLst>
              <a:ext uri="{FF2B5EF4-FFF2-40B4-BE49-F238E27FC236}">
                <a16:creationId xmlns:a16="http://schemas.microsoft.com/office/drawing/2014/main" id="{6625A971-9190-2A57-340B-AB5213C930F5}"/>
              </a:ext>
            </a:extLst>
          </p:cNvPr>
          <p:cNvPicPr>
            <a:picLocks noChangeAspect="1"/>
          </p:cNvPicPr>
          <p:nvPr/>
        </p:nvPicPr>
        <p:blipFill>
          <a:blip r:embed="rId2"/>
          <a:stretch>
            <a:fillRect/>
          </a:stretch>
        </p:blipFill>
        <p:spPr>
          <a:xfrm>
            <a:off x="655902" y="1446652"/>
            <a:ext cx="4945530" cy="3542598"/>
          </a:xfrm>
          <a:prstGeom prst="rect">
            <a:avLst/>
          </a:prstGeom>
        </p:spPr>
      </p:pic>
      <p:pic>
        <p:nvPicPr>
          <p:cNvPr id="8" name="Picture 7">
            <a:extLst>
              <a:ext uri="{FF2B5EF4-FFF2-40B4-BE49-F238E27FC236}">
                <a16:creationId xmlns:a16="http://schemas.microsoft.com/office/drawing/2014/main" id="{0789BD1C-B7DF-2E51-A733-B6C89F3F6CA1}"/>
              </a:ext>
            </a:extLst>
          </p:cNvPr>
          <p:cNvPicPr>
            <a:picLocks noChangeAspect="1"/>
          </p:cNvPicPr>
          <p:nvPr/>
        </p:nvPicPr>
        <p:blipFill>
          <a:blip r:embed="rId3"/>
          <a:stretch>
            <a:fillRect/>
          </a:stretch>
        </p:blipFill>
        <p:spPr>
          <a:xfrm>
            <a:off x="6096000" y="1446652"/>
            <a:ext cx="5054600" cy="3632200"/>
          </a:xfrm>
          <a:prstGeom prst="rect">
            <a:avLst/>
          </a:prstGeom>
        </p:spPr>
      </p:pic>
      <p:sp>
        <p:nvSpPr>
          <p:cNvPr id="9" name="TextBox 8">
            <a:extLst>
              <a:ext uri="{FF2B5EF4-FFF2-40B4-BE49-F238E27FC236}">
                <a16:creationId xmlns:a16="http://schemas.microsoft.com/office/drawing/2014/main" id="{6747C63E-5135-1971-D22F-B66CBDDE4129}"/>
              </a:ext>
            </a:extLst>
          </p:cNvPr>
          <p:cNvSpPr txBox="1"/>
          <p:nvPr/>
        </p:nvSpPr>
        <p:spPr>
          <a:xfrm>
            <a:off x="6096000" y="5245929"/>
            <a:ext cx="4829577" cy="1015663"/>
          </a:xfrm>
          <a:prstGeom prst="rect">
            <a:avLst/>
          </a:prstGeom>
          <a:noFill/>
        </p:spPr>
        <p:txBody>
          <a:bodyPr wrap="square" rtlCol="0">
            <a:spAutoFit/>
          </a:bodyPr>
          <a:lstStyle/>
          <a:p>
            <a:r>
              <a:rPr lang="en-IT" sz="1200"/>
              <a:t>Stesso LGAD mostrato precedentemente. Mi aspetto che </a:t>
            </a:r>
            <a:r>
              <a:rPr lang="en-GB" sz="1200"/>
              <a:t>i</a:t>
            </a:r>
            <a:r>
              <a:rPr lang="en-IT" sz="1200"/>
              <a:t> dati considerati per questo fit siano ancora abbastanza scollegati dalla zona di salita iniziale anche se dall’immagine risulta evidente che la retta verde si discosta leggermente dall andamento dei punti piu vicini a V_fd (ma che mi aspetterei seguire ancora bene la linearità della regione di bulk).</a:t>
            </a:r>
          </a:p>
        </p:txBody>
      </p:sp>
      <p:sp>
        <p:nvSpPr>
          <p:cNvPr id="10" name="TextBox 9">
            <a:extLst>
              <a:ext uri="{FF2B5EF4-FFF2-40B4-BE49-F238E27FC236}">
                <a16:creationId xmlns:a16="http://schemas.microsoft.com/office/drawing/2014/main" id="{236D723C-C2EA-B272-4882-92F54681879B}"/>
              </a:ext>
            </a:extLst>
          </p:cNvPr>
          <p:cNvSpPr txBox="1"/>
          <p:nvPr/>
        </p:nvSpPr>
        <p:spPr>
          <a:xfrm>
            <a:off x="877521" y="5245929"/>
            <a:ext cx="4723911" cy="461665"/>
          </a:xfrm>
          <a:prstGeom prst="rect">
            <a:avLst/>
          </a:prstGeom>
          <a:noFill/>
        </p:spPr>
        <p:txBody>
          <a:bodyPr wrap="square" rtlCol="0">
            <a:spAutoFit/>
          </a:bodyPr>
          <a:lstStyle/>
          <a:p>
            <a:r>
              <a:rPr lang="en-IT" sz="1200"/>
              <a:t>Considerando piu dati all inizio la media ovviamente tende ad aumentare, ma rimane comunque al di sotto di quella dichiarata di circa 0.15 V. </a:t>
            </a:r>
          </a:p>
        </p:txBody>
      </p:sp>
    </p:spTree>
    <p:extLst>
      <p:ext uri="{BB962C8B-B14F-4D97-AF65-F5344CB8AC3E}">
        <p14:creationId xmlns:p14="http://schemas.microsoft.com/office/powerpoint/2010/main" val="595071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63BE67-8A19-5DD8-EC93-8299480D31CB}"/>
              </a:ext>
            </a:extLst>
          </p:cNvPr>
          <p:cNvSpPr>
            <a:spLocks noGrp="1"/>
          </p:cNvSpPr>
          <p:nvPr>
            <p:ph idx="1"/>
          </p:nvPr>
        </p:nvSpPr>
        <p:spPr>
          <a:xfrm>
            <a:off x="2231136" y="513662"/>
            <a:ext cx="7729728" cy="913024"/>
          </a:xfrm>
        </p:spPr>
        <p:txBody>
          <a:bodyPr/>
          <a:lstStyle/>
          <a:p>
            <a:r>
              <a:rPr lang="en-IT"/>
              <a:t>Volendo esagerare il ragionamento ho provato ad osservare cosa succede considerando come range: 15% - 40% .</a:t>
            </a:r>
          </a:p>
          <a:p>
            <a:endParaRPr lang="en-IT"/>
          </a:p>
        </p:txBody>
      </p:sp>
      <p:pic>
        <p:nvPicPr>
          <p:cNvPr id="4" name="Picture 3">
            <a:extLst>
              <a:ext uri="{FF2B5EF4-FFF2-40B4-BE49-F238E27FC236}">
                <a16:creationId xmlns:a16="http://schemas.microsoft.com/office/drawing/2014/main" id="{1717F010-6D53-A507-6795-F57432F6AB3E}"/>
              </a:ext>
            </a:extLst>
          </p:cNvPr>
          <p:cNvPicPr>
            <a:picLocks noChangeAspect="1"/>
          </p:cNvPicPr>
          <p:nvPr/>
        </p:nvPicPr>
        <p:blipFill>
          <a:blip r:embed="rId3"/>
          <a:stretch>
            <a:fillRect/>
          </a:stretch>
        </p:blipFill>
        <p:spPr>
          <a:xfrm>
            <a:off x="925621" y="1612899"/>
            <a:ext cx="4834426" cy="3893909"/>
          </a:xfrm>
          <a:prstGeom prst="rect">
            <a:avLst/>
          </a:prstGeom>
        </p:spPr>
      </p:pic>
      <p:pic>
        <p:nvPicPr>
          <p:cNvPr id="7" name="Picture 6">
            <a:extLst>
              <a:ext uri="{FF2B5EF4-FFF2-40B4-BE49-F238E27FC236}">
                <a16:creationId xmlns:a16="http://schemas.microsoft.com/office/drawing/2014/main" id="{ADE196A2-EF5E-7FDB-1811-C410EC960449}"/>
              </a:ext>
            </a:extLst>
          </p:cNvPr>
          <p:cNvPicPr>
            <a:picLocks noChangeAspect="1"/>
          </p:cNvPicPr>
          <p:nvPr/>
        </p:nvPicPr>
        <p:blipFill>
          <a:blip r:embed="rId4"/>
          <a:stretch>
            <a:fillRect/>
          </a:stretch>
        </p:blipFill>
        <p:spPr>
          <a:xfrm>
            <a:off x="5847584" y="1612900"/>
            <a:ext cx="5418795" cy="3893908"/>
          </a:xfrm>
          <a:prstGeom prst="rect">
            <a:avLst/>
          </a:prstGeom>
        </p:spPr>
      </p:pic>
      <p:sp>
        <p:nvSpPr>
          <p:cNvPr id="8" name="TextBox 7">
            <a:extLst>
              <a:ext uri="{FF2B5EF4-FFF2-40B4-BE49-F238E27FC236}">
                <a16:creationId xmlns:a16="http://schemas.microsoft.com/office/drawing/2014/main" id="{E55D033A-B37E-B9BF-266D-17F0CF92E5DA}"/>
              </a:ext>
            </a:extLst>
          </p:cNvPr>
          <p:cNvSpPr txBox="1"/>
          <p:nvPr/>
        </p:nvSpPr>
        <p:spPr>
          <a:xfrm>
            <a:off x="1357391" y="5821118"/>
            <a:ext cx="9908988" cy="523220"/>
          </a:xfrm>
          <a:prstGeom prst="rect">
            <a:avLst/>
          </a:prstGeom>
          <a:noFill/>
        </p:spPr>
        <p:txBody>
          <a:bodyPr wrap="square" rtlCol="0">
            <a:spAutoFit/>
          </a:bodyPr>
          <a:lstStyle/>
          <a:p>
            <a:r>
              <a:rPr lang="it-IT" sz="1400"/>
              <a:t>In questo caso il risultato, seppur sempre minore, risulta piu vicino. E’ chiaro però che deriva da una forzatura nella scelta del range di fit della regione di bulk.  Si vede infatti che la retta verde descrive male la seconda metà della zona a salita rapida. </a:t>
            </a:r>
            <a:endParaRPr lang="en-IT" sz="1400"/>
          </a:p>
        </p:txBody>
      </p:sp>
    </p:spTree>
    <p:extLst>
      <p:ext uri="{BB962C8B-B14F-4D97-AF65-F5344CB8AC3E}">
        <p14:creationId xmlns:p14="http://schemas.microsoft.com/office/powerpoint/2010/main" val="3481193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A2462-4F2C-BCB1-C67B-14B08DCBCB0D}"/>
              </a:ext>
            </a:extLst>
          </p:cNvPr>
          <p:cNvSpPr>
            <a:spLocks noGrp="1"/>
          </p:cNvSpPr>
          <p:nvPr>
            <p:ph type="title"/>
          </p:nvPr>
        </p:nvSpPr>
        <p:spPr>
          <a:xfrm>
            <a:off x="2109216" y="283464"/>
            <a:ext cx="7729728" cy="1188720"/>
          </a:xfrm>
        </p:spPr>
        <p:txBody>
          <a:bodyPr/>
          <a:lstStyle/>
          <a:p>
            <a:r>
              <a:rPr lang="en-IT"/>
              <a:t>Note e Domande</a:t>
            </a:r>
          </a:p>
        </p:txBody>
      </p:sp>
      <p:sp>
        <p:nvSpPr>
          <p:cNvPr id="3" name="Content Placeholder 2">
            <a:extLst>
              <a:ext uri="{FF2B5EF4-FFF2-40B4-BE49-F238E27FC236}">
                <a16:creationId xmlns:a16="http://schemas.microsoft.com/office/drawing/2014/main" id="{D607E064-8A6B-C706-DE6A-92F3EE56F415}"/>
              </a:ext>
            </a:extLst>
          </p:cNvPr>
          <p:cNvSpPr>
            <a:spLocks noGrp="1"/>
          </p:cNvSpPr>
          <p:nvPr>
            <p:ph idx="1"/>
          </p:nvPr>
        </p:nvSpPr>
        <p:spPr>
          <a:xfrm>
            <a:off x="1847088" y="1743456"/>
            <a:ext cx="8497824" cy="4008763"/>
          </a:xfrm>
        </p:spPr>
        <p:txBody>
          <a:bodyPr>
            <a:normAutofit/>
          </a:bodyPr>
          <a:lstStyle/>
          <a:p>
            <a:r>
              <a:rPr lang="en-IT"/>
              <a:t>Ho utilizzato le misure prese personalmente in laboratorio più alcune altre misure nella stessa cartella non prese da me. Queste erano state effettuate sugli LGAD B, mentre io le ho sempre prese sulle A.  Avrei dovuto escuderli? Sono comunque una piccola parte quindi mi aspetto che in ogni caso non siano cosi determinanti per il risultato finale. L’esempio mostrato (il cui nel caso iniziale era associato un valore di V_GL = 34.53) è il W63 S5 che è stato comunque misurato da me ed è un LGAD A. </a:t>
            </a:r>
          </a:p>
          <a:p>
            <a:r>
              <a:rPr lang="en-IT"/>
              <a:t>Ho considerato un range percentuale uguale a tutti gli LGAD presi in considerazione, siccome visivamente mi sembrava che potesse andare bene per tutti. D</a:t>
            </a:r>
            <a:r>
              <a:rPr lang="en-GB"/>
              <a:t>ovrei forse considerare per gli LGAD piu distanti dal valore medio dichiarato dei range personalizzati e magari tendenti alla prima metà della salita? Perchè mi sembrerebbe un modo per fare “tornare i conti” che non so quanto possa essere rigoroso.</a:t>
            </a:r>
          </a:p>
          <a:p>
            <a:r>
              <a:rPr lang="en-GB"/>
              <a:t>Quale altra cosa posso avere sbagliato?</a:t>
            </a:r>
          </a:p>
          <a:p>
            <a:endParaRPr lang="en-IT"/>
          </a:p>
          <a:p>
            <a:endParaRPr lang="en-IT"/>
          </a:p>
        </p:txBody>
      </p:sp>
    </p:spTree>
    <p:extLst>
      <p:ext uri="{BB962C8B-B14F-4D97-AF65-F5344CB8AC3E}">
        <p14:creationId xmlns:p14="http://schemas.microsoft.com/office/powerpoint/2010/main" val="388688509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57</TotalTime>
  <Words>586</Words>
  <Application>Microsoft Macintosh PowerPoint</Application>
  <PresentationFormat>Widescreen</PresentationFormat>
  <Paragraphs>15</Paragraphs>
  <Slides>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Gill Sans MT</vt:lpstr>
      <vt:lpstr>Parcel</vt:lpstr>
      <vt:lpstr>Principali conclusioni</vt:lpstr>
      <vt:lpstr>PowerPoint Presentation</vt:lpstr>
      <vt:lpstr>PowerPoint Presentation</vt:lpstr>
      <vt:lpstr>PowerPoint Presentation</vt:lpstr>
      <vt:lpstr>Note e Domande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Palmas</dc:creator>
  <cp:lastModifiedBy>Andrea Palmas</cp:lastModifiedBy>
  <cp:revision>1</cp:revision>
  <dcterms:created xsi:type="dcterms:W3CDTF">2026-10-07T14:28:05Z</dcterms:created>
  <dcterms:modified xsi:type="dcterms:W3CDTF">2026-10-07T15:25:14Z</dcterms:modified>
</cp:coreProperties>
</file>